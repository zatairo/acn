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7_C3FD855F.xml" ContentType="application/vnd.ms-powerpoint.comments+xml"/>
  <Override PartName="/ppt/comments/modernComment_109_EE5A80A6.xml" ContentType="application/vnd.ms-powerpoint.comments+xml"/>
  <Override PartName="/ppt/notesSlides/notesSlide1.xml" ContentType="application/vnd.openxmlformats-officedocument.presentationml.notesSlide+xml"/>
  <Override PartName="/ppt/comments/modernComment_113_1933406B.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12_42DB0F57.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3"/>
  </p:sldMasterIdLst>
  <p:notesMasterIdLst>
    <p:notesMasterId r:id="rId13"/>
  </p:notesMasterIdLst>
  <p:sldIdLst>
    <p:sldId id="256" r:id="rId4"/>
    <p:sldId id="261" r:id="rId5"/>
    <p:sldId id="263" r:id="rId6"/>
    <p:sldId id="265" r:id="rId7"/>
    <p:sldId id="275" r:id="rId8"/>
    <p:sldId id="266" r:id="rId9"/>
    <p:sldId id="274" r:id="rId10"/>
    <p:sldId id="271" r:id="rId11"/>
    <p:sldId id="270" r:id="rId12"/>
  </p:sldIdLst>
  <p:sldSz cx="12192000" cy="6858000"/>
  <p:notesSz cx="6858000" cy="9144000"/>
  <p:embeddedFontLst>
    <p:embeddedFont>
      <p:font typeface="Open Sans" panose="020B0606030504020204" pitchFamily="34" charset="0"/>
      <p:regular r:id="rId14"/>
      <p:bold r:id="rId15"/>
      <p:italic r:id="rId16"/>
      <p:boldItalic r:id="rId17"/>
    </p:embeddedFont>
    <p:embeddedFont>
      <p:font typeface="Open Sans Condensed Condensed Medium" panose="020B0604020202020204" charset="0"/>
      <p:regular r:id="rId18"/>
      <p:italic r:id="rId19"/>
    </p:embeddedFont>
    <p:embeddedFont>
      <p:font typeface="Open Sans Light" panose="020B0306030504020204" pitchFamily="34" charset="0"/>
      <p:regular r:id="rId20"/>
      <p:italic r:id="rId21"/>
    </p:embeddedFont>
    <p:embeddedFont>
      <p:font typeface="Open Sans Medium" panose="020B0604020202020204" charset="0"/>
      <p:regular r:id="rId22"/>
      <p:italic r:id="rId23"/>
    </p:embeddedFont>
    <p:embeddedFont>
      <p:font typeface="Space Mono" panose="020B0604020202020204" charset="0"/>
      <p:regular r:id="rId24"/>
      <p:bold r:id="rId25"/>
      <p:italic r:id="rId26"/>
      <p:boldItalic r:id="rId27"/>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45C991-3EF8-DCCA-FE52-BD67B36CDD77}" name="Martha Milena Bautista Gomez" initials="MG" userId="S::mmbautista@cideim.org.co::38e28d61-e4a1-4ff0-811a-27d3e0ce6c8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287D"/>
    <a:srgbClr val="F2C3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0CAF5F-5E20-DFD0-92F9-B6FCD7AA5375}" v="191" dt="2025-03-14T12:57:12.512"/>
    <p1510:client id="{A2CDEC74-B49D-4331-A4CC-280C14481227}" v="163" dt="2025-03-14T14:40:58.015"/>
    <p1510:client id="{E1044E7C-43C2-63A0-30A7-5C4E9F25B8E6}" v="4" dt="2025-03-14T13:04:21.45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Master" Target="slideMasters/slideMaster1.xml"/><Relationship Id="rId21" Type="http://schemas.openxmlformats.org/officeDocument/2006/relationships/font" Target="fonts/font8.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4.fntdata"/><Relationship Id="rId25" Type="http://schemas.openxmlformats.org/officeDocument/2006/relationships/font" Target="fonts/font12.fntdata"/><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1.fntdata"/><Relationship Id="rId32"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 Id="rId8" Type="http://schemas.openxmlformats.org/officeDocument/2006/relationships/slide" Target="slides/slide5.xml"/></Relationships>
</file>

<file path=ppt/comments/modernComment_107_C3FD855F.xml><?xml version="1.0" encoding="utf-8"?>
<p188:cmLst xmlns:a="http://schemas.openxmlformats.org/drawingml/2006/main" xmlns:r="http://schemas.openxmlformats.org/officeDocument/2006/relationships" xmlns:p188="http://schemas.microsoft.com/office/powerpoint/2018/8/main">
  <p188:cm id="{9676DECF-BADF-472E-BFFD-ECE05F041095}" authorId="{2845C991-3EF8-DCCA-FE52-BD67B36CDD77}" created="2025-03-14T12:15:14.413">
    <ac:deMkLst xmlns:ac="http://schemas.microsoft.com/office/drawing/2013/main/command">
      <pc:docMk xmlns:pc="http://schemas.microsoft.com/office/powerpoint/2013/main/command"/>
      <pc:sldMk xmlns:pc="http://schemas.microsoft.com/office/powerpoint/2013/main/command" cId="3288171871" sldId="263"/>
      <ac:spMk id="12" creationId="{D7E49828-EABD-5D37-6D35-F65CC3B5691A}"/>
    </ac:deMkLst>
    <p188:txBody>
      <a:bodyPr/>
      <a:lstStyle/>
      <a:p>
        <a:r>
          <a:rPr lang="en-US"/>
          <a:t>con la info de Paula, quizá esto se puede especificar un poquito más y agrgar los datos correspondientes a la tabla, si hay tiempo</a:t>
        </a:r>
      </a:p>
    </p188:txBody>
  </p188:cm>
</p188:cmLst>
</file>

<file path=ppt/comments/modernComment_109_EE5A80A6.xml><?xml version="1.0" encoding="utf-8"?>
<p188:cmLst xmlns:a="http://schemas.openxmlformats.org/drawingml/2006/main" xmlns:r="http://schemas.openxmlformats.org/officeDocument/2006/relationships" xmlns:p188="http://schemas.microsoft.com/office/powerpoint/2018/8/main">
  <p188:cm id="{EC4FDD26-1671-4C3E-BE43-D9E332E8818D}" authorId="{2845C991-3EF8-DCCA-FE52-BD67B36CDD77}" created="2025-03-14T12:17:08.060">
    <ac:deMkLst xmlns:ac="http://schemas.microsoft.com/office/drawing/2013/main/command">
      <pc:docMk xmlns:pc="http://schemas.microsoft.com/office/powerpoint/2013/main/command"/>
      <pc:sldMk xmlns:pc="http://schemas.microsoft.com/office/powerpoint/2013/main/command" cId="3998908582" sldId="265"/>
      <ac:spMk id="3" creationId="{D7E49828-EABD-5D37-6D35-F65CC3B5691A}"/>
    </ac:deMkLst>
    <p188:txBody>
      <a:bodyPr/>
      <a:lstStyle/>
      <a:p>
        <a:r>
          <a:rPr lang="en-US"/>
          <a:t>normalmente esto baja en la parte inferior, mira si esto funciona  o vez otra forma de agrandar la tabla, está un poco pequeña</a:t>
        </a:r>
      </a:p>
    </p188:txBody>
  </p188:cm>
</p188:cmLst>
</file>

<file path=ppt/comments/modernComment_112_42DB0F57.xml><?xml version="1.0" encoding="utf-8"?>
<p188:cmLst xmlns:a="http://schemas.openxmlformats.org/drawingml/2006/main" xmlns:r="http://schemas.openxmlformats.org/officeDocument/2006/relationships" xmlns:p188="http://schemas.microsoft.com/office/powerpoint/2018/8/main">
  <p188:cm id="{2164F7CA-63EF-4378-9A86-0334660F98AA}" authorId="{2845C991-3EF8-DCCA-FE52-BD67B36CDD77}" created="2025-03-14T12:45:00.605">
    <ac:txMkLst xmlns:ac="http://schemas.microsoft.com/office/drawing/2013/main/command">
      <pc:docMk xmlns:pc="http://schemas.microsoft.com/office/powerpoint/2013/main/command"/>
      <pc:sldMk xmlns:pc="http://schemas.microsoft.com/office/powerpoint/2013/main/command" cId="1121652567" sldId="274"/>
      <ac:spMk id="7" creationId="{D7E49828-EABD-5D37-6D35-F65CC3B5691A}"/>
      <ac:txMk cp="0">
        <ac:context len="355" hash="3441618160"/>
      </ac:txMk>
    </ac:txMkLst>
    <p188:pos x="2438400" y="274320"/>
    <p188:txBody>
      <a:bodyPr/>
      <a:lstStyle/>
      <a:p>
        <a:r>
          <a:rPr lang="en-US"/>
          <a:t>el título de la diapositiva es perception</a:t>
        </a:r>
      </a:p>
    </p188:txBody>
  </p188:cm>
  <p188:cm id="{1B7EA43A-D60D-4F55-B007-D72947E0DAE2}" authorId="{2845C991-3EF8-DCCA-FE52-BD67B36CDD77}" created="2025-03-14T12:51:21.927">
    <ac:txMkLst xmlns:ac="http://schemas.microsoft.com/office/drawing/2013/main/command">
      <pc:docMk xmlns:pc="http://schemas.microsoft.com/office/powerpoint/2013/main/command"/>
      <pc:sldMk xmlns:pc="http://schemas.microsoft.com/office/powerpoint/2013/main/command" cId="1121652567" sldId="274"/>
      <ac:spMk id="7" creationId="{D7E49828-EABD-5D37-6D35-F65CC3B5691A}"/>
      <ac:txMk cp="275">
        <ac:context len="355" hash="3441618160"/>
      </ac:txMk>
    </ac:txMkLst>
    <p188:pos x="5709920" y="4653280"/>
    <p188:txBody>
      <a:bodyPr/>
      <a:lstStyle/>
      <a:p>
        <a:r>
          <a:rPr lang="en-US"/>
          <a:t>de pronto esto se puede quitar y solo lo dices</a:t>
        </a:r>
      </a:p>
    </p188:txBody>
  </p188:cm>
</p188:cmLst>
</file>

<file path=ppt/comments/modernComment_113_1933406B.xml><?xml version="1.0" encoding="utf-8"?>
<p188:cmLst xmlns:a="http://schemas.openxmlformats.org/drawingml/2006/main" xmlns:r="http://schemas.openxmlformats.org/officeDocument/2006/relationships" xmlns:p188="http://schemas.microsoft.com/office/powerpoint/2018/8/main">
  <p188:cm id="{F82C3531-C907-4427-BFE3-B6E3132EA4D0}" authorId="{2845C991-3EF8-DCCA-FE52-BD67B36CDD77}" created="2025-03-14T12:31:15.849">
    <ac:txMkLst xmlns:ac="http://schemas.microsoft.com/office/drawing/2013/main/command">
      <pc:docMk xmlns:pc="http://schemas.microsoft.com/office/powerpoint/2013/main/command"/>
      <pc:sldMk xmlns:pc="http://schemas.microsoft.com/office/powerpoint/2013/main/command" cId="422789227" sldId="275"/>
      <ac:spMk id="3" creationId="{C42A3E4C-0163-0F8B-5266-76AC09522DAF}"/>
      <ac:txMk cp="105" len="39">
        <ac:context len="334" hash="252789840"/>
      </ac:txMk>
    </ac:txMkLst>
    <p188:txBody>
      <a:bodyPr/>
      <a:lstStyle/>
      <a:p>
        <a:r>
          <a:rPr lang="en-US"/>
          <a:t>también puede ser main focus, pero no movlizacing factor porque cambia el sentido</a:t>
        </a:r>
      </a:p>
    </p188:txBody>
  </p188:cm>
  <p188:cm id="{CD17FC04-446B-4234-AEF5-E91927C09D11}" authorId="{2845C991-3EF8-DCCA-FE52-BD67B36CDD77}" created="2025-03-14T12:33:24.170">
    <ac:deMkLst xmlns:ac="http://schemas.microsoft.com/office/drawing/2013/main/command">
      <pc:docMk xmlns:pc="http://schemas.microsoft.com/office/powerpoint/2013/main/command"/>
      <pc:sldMk xmlns:pc="http://schemas.microsoft.com/office/powerpoint/2013/main/command" cId="422789227" sldId="275"/>
      <ac:spMk id="2" creationId="{167DDE22-3B66-9B56-741A-BC3B13AC1CA3}"/>
    </ac:deMkLst>
    <p188:txBody>
      <a:bodyPr/>
      <a:lstStyle/>
      <a:p>
        <a:r>
          <a:rPr lang="en-US"/>
          <a:t>cada conclusion debería tener su subtítulo, en este caso healthcare system. Incluso preliminary results puede ir en una slides sola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326513-03F0-E64F-BEB9-D3B071A490C2}" type="datetimeFigureOut">
              <a:rPr lang="nl-NL" smtClean="0"/>
              <a:t>7-7-2025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11E90-C36D-4445-B547-3EE21E1394FE}" type="slidenum">
              <a:rPr lang="nl-NL" smtClean="0"/>
              <a:t>‹#›</a:t>
            </a:fld>
            <a:endParaRPr lang="nl-NL"/>
          </a:p>
        </p:txBody>
      </p:sp>
    </p:spTree>
    <p:extLst>
      <p:ext uri="{BB962C8B-B14F-4D97-AF65-F5344CB8AC3E}">
        <p14:creationId xmlns:p14="http://schemas.microsoft.com/office/powerpoint/2010/main" val="3870555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F21B8-B406-86E6-01D5-A0F9E1EAB0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6E0C81-06B4-6B3A-0D8F-45CD1C1050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3B8B852-5F81-2810-BA14-C6FAEA30906B}"/>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76CC38BF-E261-2CC9-7922-4D81ABC4EF98}"/>
              </a:ext>
            </a:extLst>
          </p:cNvPr>
          <p:cNvSpPr>
            <a:spLocks noGrp="1"/>
          </p:cNvSpPr>
          <p:nvPr>
            <p:ph type="sldNum" sz="quarter" idx="10"/>
          </p:nvPr>
        </p:nvSpPr>
        <p:spPr/>
        <p:txBody>
          <a:bodyPr/>
          <a:lstStyle/>
          <a:p>
            <a:fld id="{1FA11E90-C36D-4445-B547-3EE21E1394FE}" type="slidenum">
              <a:rPr lang="nl-NL" smtClean="0"/>
              <a:t>5</a:t>
            </a:fld>
            <a:endParaRPr lang="nl-NL"/>
          </a:p>
        </p:txBody>
      </p:sp>
    </p:spTree>
    <p:extLst>
      <p:ext uri="{BB962C8B-B14F-4D97-AF65-F5344CB8AC3E}">
        <p14:creationId xmlns:p14="http://schemas.microsoft.com/office/powerpoint/2010/main" val="533544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1FA11E90-C36D-4445-B547-3EE21E1394FE}" type="slidenum">
              <a:rPr lang="nl-NL" smtClean="0"/>
              <a:t>6</a:t>
            </a:fld>
            <a:endParaRPr lang="nl-NL"/>
          </a:p>
        </p:txBody>
      </p:sp>
    </p:spTree>
    <p:extLst>
      <p:ext uri="{BB962C8B-B14F-4D97-AF65-F5344CB8AC3E}">
        <p14:creationId xmlns:p14="http://schemas.microsoft.com/office/powerpoint/2010/main" val="546374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1FA11E90-C36D-4445-B547-3EE21E1394FE}" type="slidenum">
              <a:rPr lang="nl-NL" smtClean="0"/>
              <a:t>7</a:t>
            </a:fld>
            <a:endParaRPr lang="nl-NL"/>
          </a:p>
        </p:txBody>
      </p:sp>
    </p:spTree>
    <p:extLst>
      <p:ext uri="{BB962C8B-B14F-4D97-AF65-F5344CB8AC3E}">
        <p14:creationId xmlns:p14="http://schemas.microsoft.com/office/powerpoint/2010/main" val="867302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1FA11E90-C36D-4445-B547-3EE21E1394FE}" type="slidenum">
              <a:rPr lang="nl-NL" smtClean="0"/>
              <a:t>8</a:t>
            </a:fld>
            <a:endParaRPr lang="nl-NL"/>
          </a:p>
        </p:txBody>
      </p:sp>
    </p:spTree>
    <p:extLst>
      <p:ext uri="{BB962C8B-B14F-4D97-AF65-F5344CB8AC3E}">
        <p14:creationId xmlns:p14="http://schemas.microsoft.com/office/powerpoint/2010/main" val="541024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10"/>
          </p:nvPr>
        </p:nvSpPr>
        <p:spPr/>
        <p:txBody>
          <a:bodyPr/>
          <a:lstStyle/>
          <a:p>
            <a:fld id="{1FA11E90-C36D-4445-B547-3EE21E1394FE}" type="slidenum">
              <a:rPr lang="nl-NL" smtClean="0"/>
              <a:t>9</a:t>
            </a:fld>
            <a:endParaRPr lang="nl-NL"/>
          </a:p>
        </p:txBody>
      </p:sp>
    </p:spTree>
    <p:extLst>
      <p:ext uri="{BB962C8B-B14F-4D97-AF65-F5344CB8AC3E}">
        <p14:creationId xmlns:p14="http://schemas.microsoft.com/office/powerpoint/2010/main" val="2780281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978E14-5C63-575E-118A-ECD75073A142}"/>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41B1A1C2-7B8F-669F-F209-2708210156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82ACE08C-3FB8-6708-B724-BEDA66A6F954}"/>
              </a:ext>
            </a:extLst>
          </p:cNvPr>
          <p:cNvSpPr>
            <a:spLocks noGrp="1"/>
          </p:cNvSpPr>
          <p:nvPr>
            <p:ph type="dt" sz="half" idx="10"/>
          </p:nvPr>
        </p:nvSpPr>
        <p:spPr/>
        <p:txBody>
          <a:bodyPr/>
          <a:lstStyle/>
          <a:p>
            <a:fld id="{45F8C4F9-D36F-BE4D-8D0F-B528723D28DF}" type="datetime1">
              <a:rPr lang="nl-NL" smtClean="0"/>
              <a:t>7-7-2025</a:t>
            </a:fld>
            <a:endParaRPr lang="nl-NL"/>
          </a:p>
        </p:txBody>
      </p:sp>
      <p:sp>
        <p:nvSpPr>
          <p:cNvPr id="5" name="Tijdelijke aanduiding voor voettekst 4">
            <a:extLst>
              <a:ext uri="{FF2B5EF4-FFF2-40B4-BE49-F238E27FC236}">
                <a16:creationId xmlns:a16="http://schemas.microsoft.com/office/drawing/2014/main" id="{29024AF7-0329-9FAC-4989-217D01D465D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C365313B-285D-C215-71B5-8A9E6C601C72}"/>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3322758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3DEDCB-A038-B787-7F2D-401A03AA0502}"/>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240EED82-4488-5967-57EE-7B6FB6C6F46A}"/>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CCB92990-D867-01C1-E35D-50B8E35BD645}"/>
              </a:ext>
            </a:extLst>
          </p:cNvPr>
          <p:cNvSpPr>
            <a:spLocks noGrp="1"/>
          </p:cNvSpPr>
          <p:nvPr>
            <p:ph type="dt" sz="half" idx="10"/>
          </p:nvPr>
        </p:nvSpPr>
        <p:spPr/>
        <p:txBody>
          <a:bodyPr/>
          <a:lstStyle/>
          <a:p>
            <a:fld id="{94526031-CB8A-5F42-A6F0-E6F32424FB55}" type="datetime1">
              <a:rPr lang="nl-NL" smtClean="0"/>
              <a:t>7-7-2025</a:t>
            </a:fld>
            <a:endParaRPr lang="nl-NL"/>
          </a:p>
        </p:txBody>
      </p:sp>
      <p:sp>
        <p:nvSpPr>
          <p:cNvPr id="5" name="Tijdelijke aanduiding voor voettekst 4">
            <a:extLst>
              <a:ext uri="{FF2B5EF4-FFF2-40B4-BE49-F238E27FC236}">
                <a16:creationId xmlns:a16="http://schemas.microsoft.com/office/drawing/2014/main" id="{BDF9DE5E-0820-9FFA-0B6C-5A1A3D704EE5}"/>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3C87E01B-93DE-189B-3E79-6DC8F0D7357D}"/>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2934613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5ACD3B-9702-7200-EED2-1126D0EA7654}"/>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31D56687-912D-3B16-853B-B4AAB0E97A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E822DE11-3233-4792-09F4-38CAA30AADD2}"/>
              </a:ext>
            </a:extLst>
          </p:cNvPr>
          <p:cNvSpPr>
            <a:spLocks noGrp="1"/>
          </p:cNvSpPr>
          <p:nvPr>
            <p:ph type="dt" sz="half" idx="10"/>
          </p:nvPr>
        </p:nvSpPr>
        <p:spPr/>
        <p:txBody>
          <a:bodyPr/>
          <a:lstStyle/>
          <a:p>
            <a:fld id="{9F3FCA45-DDB7-E847-BD4B-D4EC3CE37848}" type="datetime1">
              <a:rPr lang="nl-NL" smtClean="0"/>
              <a:t>7-7-2025</a:t>
            </a:fld>
            <a:endParaRPr lang="nl-NL"/>
          </a:p>
        </p:txBody>
      </p:sp>
      <p:sp>
        <p:nvSpPr>
          <p:cNvPr id="5" name="Tijdelijke aanduiding voor voettekst 4">
            <a:extLst>
              <a:ext uri="{FF2B5EF4-FFF2-40B4-BE49-F238E27FC236}">
                <a16:creationId xmlns:a16="http://schemas.microsoft.com/office/drawing/2014/main" id="{09DF872B-3B9D-82AC-3E55-2DD30B092EC4}"/>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545E92E-6C0C-E0AB-2B8F-DA34E157C55F}"/>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1117629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BEA5B1-BB19-25AE-43B9-B4B5EBABDD2A}"/>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D4E3E0CD-4D93-F182-F38D-F1D01E38248C}"/>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1EAC7B01-8F53-B224-8C79-D812103B84FF}"/>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376700E4-9692-659E-6296-F712A97C88B0}"/>
              </a:ext>
            </a:extLst>
          </p:cNvPr>
          <p:cNvSpPr>
            <a:spLocks noGrp="1"/>
          </p:cNvSpPr>
          <p:nvPr>
            <p:ph type="dt" sz="half" idx="10"/>
          </p:nvPr>
        </p:nvSpPr>
        <p:spPr/>
        <p:txBody>
          <a:bodyPr/>
          <a:lstStyle/>
          <a:p>
            <a:fld id="{A0E9B6D8-C4D8-364C-A9AA-977F8CE81873}" type="datetime1">
              <a:rPr lang="nl-NL" smtClean="0"/>
              <a:t>7-7-2025</a:t>
            </a:fld>
            <a:endParaRPr lang="nl-NL"/>
          </a:p>
        </p:txBody>
      </p:sp>
      <p:sp>
        <p:nvSpPr>
          <p:cNvPr id="6" name="Tijdelijke aanduiding voor voettekst 5">
            <a:extLst>
              <a:ext uri="{FF2B5EF4-FFF2-40B4-BE49-F238E27FC236}">
                <a16:creationId xmlns:a16="http://schemas.microsoft.com/office/drawing/2014/main" id="{EBA87DC8-967E-EE6C-ED75-EB4C2A0E7CC0}"/>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419D4A6-2EDD-FBE1-6BEB-4D14670EB9CC}"/>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3249904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936876-DCC9-406A-8362-861558AB5A59}"/>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A47A47E2-D6AE-B0F8-5BD7-F049AAAA39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2B974393-4410-0DCC-D069-F53DC5487DAA}"/>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B69BA36A-3B9D-B4A3-4D9D-3E8D0B8A81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8DDF86E1-D793-AD41-C271-3F9E26BE6D0E}"/>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C6EA7C3D-BABD-84E5-67C3-EEAFD0713584}"/>
              </a:ext>
            </a:extLst>
          </p:cNvPr>
          <p:cNvSpPr>
            <a:spLocks noGrp="1"/>
          </p:cNvSpPr>
          <p:nvPr>
            <p:ph type="dt" sz="half" idx="10"/>
          </p:nvPr>
        </p:nvSpPr>
        <p:spPr/>
        <p:txBody>
          <a:bodyPr/>
          <a:lstStyle/>
          <a:p>
            <a:fld id="{716279C1-7460-A147-A272-B48A1DEEE638}" type="datetime1">
              <a:rPr lang="nl-NL" smtClean="0"/>
              <a:t>7-7-2025</a:t>
            </a:fld>
            <a:endParaRPr lang="nl-NL"/>
          </a:p>
        </p:txBody>
      </p:sp>
      <p:sp>
        <p:nvSpPr>
          <p:cNvPr id="8" name="Tijdelijke aanduiding voor voettekst 7">
            <a:extLst>
              <a:ext uri="{FF2B5EF4-FFF2-40B4-BE49-F238E27FC236}">
                <a16:creationId xmlns:a16="http://schemas.microsoft.com/office/drawing/2014/main" id="{AD1F2DC5-9F19-EFA1-E00E-C1AF31C948BD}"/>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8FC3A2A7-3719-3CA6-6B00-DF236226CFF4}"/>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130528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BB4075-D0C3-13BE-5A5D-8B714AFF867A}"/>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A19A9738-5066-89CB-CE10-B285D41536C3}"/>
              </a:ext>
            </a:extLst>
          </p:cNvPr>
          <p:cNvSpPr>
            <a:spLocks noGrp="1"/>
          </p:cNvSpPr>
          <p:nvPr>
            <p:ph type="dt" sz="half" idx="10"/>
          </p:nvPr>
        </p:nvSpPr>
        <p:spPr/>
        <p:txBody>
          <a:bodyPr/>
          <a:lstStyle/>
          <a:p>
            <a:fld id="{528144E2-53F4-AA46-AC0A-AE36442CCA90}" type="datetime1">
              <a:rPr lang="nl-NL" smtClean="0"/>
              <a:t>7-7-2025</a:t>
            </a:fld>
            <a:endParaRPr lang="nl-NL"/>
          </a:p>
        </p:txBody>
      </p:sp>
      <p:sp>
        <p:nvSpPr>
          <p:cNvPr id="4" name="Tijdelijke aanduiding voor voettekst 3">
            <a:extLst>
              <a:ext uri="{FF2B5EF4-FFF2-40B4-BE49-F238E27FC236}">
                <a16:creationId xmlns:a16="http://schemas.microsoft.com/office/drawing/2014/main" id="{729FB908-50A1-C7CE-33BD-E660010109C0}"/>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EEFE99FF-4192-0BFB-016B-6A3C99950CBA}"/>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1024185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054CD51B-4AD1-6F37-69C3-EED52A209210}"/>
              </a:ext>
            </a:extLst>
          </p:cNvPr>
          <p:cNvSpPr>
            <a:spLocks noGrp="1"/>
          </p:cNvSpPr>
          <p:nvPr>
            <p:ph type="dt" sz="half" idx="10"/>
          </p:nvPr>
        </p:nvSpPr>
        <p:spPr/>
        <p:txBody>
          <a:bodyPr/>
          <a:lstStyle/>
          <a:p>
            <a:fld id="{B3A05409-2CA5-F443-8F4B-F2CE39E6384F}" type="datetime1">
              <a:rPr lang="nl-NL" smtClean="0"/>
              <a:t>7-7-2025</a:t>
            </a:fld>
            <a:endParaRPr lang="nl-NL"/>
          </a:p>
        </p:txBody>
      </p:sp>
      <p:sp>
        <p:nvSpPr>
          <p:cNvPr id="3" name="Tijdelijke aanduiding voor voettekst 2">
            <a:extLst>
              <a:ext uri="{FF2B5EF4-FFF2-40B4-BE49-F238E27FC236}">
                <a16:creationId xmlns:a16="http://schemas.microsoft.com/office/drawing/2014/main" id="{8C35EA10-1795-514C-4A65-8ABB2857248A}"/>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AB9D4BDE-C2AA-0587-01C9-C25D873D947C}"/>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2453600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BCB9767-AA54-BAF4-9811-B1F7E69410B3}"/>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DA0A067D-0A5D-34BD-7343-209B98A568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324C50D5-BEEC-596E-04D3-20C656A3A5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E111CD8-4BF5-4188-066A-D9A3BBEDF5C2}"/>
              </a:ext>
            </a:extLst>
          </p:cNvPr>
          <p:cNvSpPr>
            <a:spLocks noGrp="1"/>
          </p:cNvSpPr>
          <p:nvPr>
            <p:ph type="dt" sz="half" idx="10"/>
          </p:nvPr>
        </p:nvSpPr>
        <p:spPr/>
        <p:txBody>
          <a:bodyPr/>
          <a:lstStyle/>
          <a:p>
            <a:fld id="{932F0464-2E37-B84B-B1E4-50948AC9891C}" type="datetime1">
              <a:rPr lang="nl-NL" smtClean="0"/>
              <a:t>7-7-2025</a:t>
            </a:fld>
            <a:endParaRPr lang="nl-NL"/>
          </a:p>
        </p:txBody>
      </p:sp>
      <p:sp>
        <p:nvSpPr>
          <p:cNvPr id="6" name="Tijdelijke aanduiding voor voettekst 5">
            <a:extLst>
              <a:ext uri="{FF2B5EF4-FFF2-40B4-BE49-F238E27FC236}">
                <a16:creationId xmlns:a16="http://schemas.microsoft.com/office/drawing/2014/main" id="{42D65575-4D62-2D47-D802-6976C4A0BED3}"/>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2A0B9310-C3AC-390A-175B-384B374C9F8D}"/>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4200098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FAF80A-D538-2538-B609-997743EBBE29}"/>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03197FA8-FF3B-D15F-1D30-A6A116702B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16506142-9CD3-7AF2-F352-D3A95F5D5B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4AC392E-29EB-E704-08F1-E83FF2384921}"/>
              </a:ext>
            </a:extLst>
          </p:cNvPr>
          <p:cNvSpPr>
            <a:spLocks noGrp="1"/>
          </p:cNvSpPr>
          <p:nvPr>
            <p:ph type="dt" sz="half" idx="10"/>
          </p:nvPr>
        </p:nvSpPr>
        <p:spPr/>
        <p:txBody>
          <a:bodyPr/>
          <a:lstStyle/>
          <a:p>
            <a:fld id="{D130E1F4-8C70-CE4A-894B-1C85776FF98B}" type="datetime1">
              <a:rPr lang="nl-NL" smtClean="0"/>
              <a:t>7-7-2025</a:t>
            </a:fld>
            <a:endParaRPr lang="nl-NL"/>
          </a:p>
        </p:txBody>
      </p:sp>
      <p:sp>
        <p:nvSpPr>
          <p:cNvPr id="6" name="Tijdelijke aanduiding voor voettekst 5">
            <a:extLst>
              <a:ext uri="{FF2B5EF4-FFF2-40B4-BE49-F238E27FC236}">
                <a16:creationId xmlns:a16="http://schemas.microsoft.com/office/drawing/2014/main" id="{5A846852-B660-89D8-A94D-647254E34E97}"/>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D7A60661-8041-50EE-1BD2-F859CAECE1A7}"/>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1006438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C2C95D-0CE3-2342-FD45-84AE1A28C326}"/>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05300215-127B-0ED9-C563-E0D6F78799F1}"/>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8E37F089-D40F-7B9E-3F02-A6F20416F1CD}"/>
              </a:ext>
            </a:extLst>
          </p:cNvPr>
          <p:cNvSpPr>
            <a:spLocks noGrp="1"/>
          </p:cNvSpPr>
          <p:nvPr>
            <p:ph type="dt" sz="half" idx="10"/>
          </p:nvPr>
        </p:nvSpPr>
        <p:spPr/>
        <p:txBody>
          <a:bodyPr/>
          <a:lstStyle/>
          <a:p>
            <a:fld id="{7DBE620D-554A-994D-BB39-53CCCADCFD50}" type="datetime1">
              <a:rPr lang="nl-NL" smtClean="0"/>
              <a:t>7-7-2025</a:t>
            </a:fld>
            <a:endParaRPr lang="nl-NL"/>
          </a:p>
        </p:txBody>
      </p:sp>
      <p:sp>
        <p:nvSpPr>
          <p:cNvPr id="5" name="Tijdelijke aanduiding voor voettekst 4">
            <a:extLst>
              <a:ext uri="{FF2B5EF4-FFF2-40B4-BE49-F238E27FC236}">
                <a16:creationId xmlns:a16="http://schemas.microsoft.com/office/drawing/2014/main" id="{4C91FC90-D405-2517-B40B-910B6B0D92A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C7B2FB9-4E68-E2F9-B281-25895D48798C}"/>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1742851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2C929690-61C0-DE63-6255-8CBD8B6FE654}"/>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405B6AF4-575D-68B2-94DC-5379CEA02862}"/>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7A45F736-7CAB-669E-1096-8556AD92AF9F}"/>
              </a:ext>
            </a:extLst>
          </p:cNvPr>
          <p:cNvSpPr>
            <a:spLocks noGrp="1"/>
          </p:cNvSpPr>
          <p:nvPr>
            <p:ph type="dt" sz="half" idx="10"/>
          </p:nvPr>
        </p:nvSpPr>
        <p:spPr/>
        <p:txBody>
          <a:bodyPr/>
          <a:lstStyle/>
          <a:p>
            <a:fld id="{9790C872-FACB-1243-BB7E-C6F075FD3009}" type="datetime1">
              <a:rPr lang="nl-NL" smtClean="0"/>
              <a:t>7-7-2025</a:t>
            </a:fld>
            <a:endParaRPr lang="nl-NL"/>
          </a:p>
        </p:txBody>
      </p:sp>
      <p:sp>
        <p:nvSpPr>
          <p:cNvPr id="5" name="Tijdelijke aanduiding voor voettekst 4">
            <a:extLst>
              <a:ext uri="{FF2B5EF4-FFF2-40B4-BE49-F238E27FC236}">
                <a16:creationId xmlns:a16="http://schemas.microsoft.com/office/drawing/2014/main" id="{BC1FC93B-9BC5-127F-9C6C-F74F2742DE5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E5EA6BC2-34D6-065F-0408-312437F426DD}"/>
              </a:ext>
            </a:extLst>
          </p:cNvPr>
          <p:cNvSpPr>
            <a:spLocks noGrp="1"/>
          </p:cNvSpPr>
          <p:nvPr>
            <p:ph type="sldNum" sz="quarter" idx="12"/>
          </p:nvPr>
        </p:nvSpPr>
        <p:spPr/>
        <p:txBody>
          <a:bodyPr/>
          <a:lstStyle/>
          <a:p>
            <a:fld id="{8BBA71A0-6CC0-AB46-8BCD-539147384510}" type="slidenum">
              <a:rPr lang="nl-NL" smtClean="0"/>
              <a:t>‹#›</a:t>
            </a:fld>
            <a:endParaRPr lang="nl-NL"/>
          </a:p>
        </p:txBody>
      </p:sp>
    </p:spTree>
    <p:extLst>
      <p:ext uri="{BB962C8B-B14F-4D97-AF65-F5344CB8AC3E}">
        <p14:creationId xmlns:p14="http://schemas.microsoft.com/office/powerpoint/2010/main" val="979023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D70AF7E5-5CFB-B5B5-053C-2F5E624127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73EDFC74-C878-AC86-FA3A-4EAD2D2588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B344F390-012B-DC62-5BBA-733D286DE7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274447-A384-7543-9000-02052648F838}" type="datetime1">
              <a:rPr lang="nl-NL" smtClean="0"/>
              <a:t>7-7-2025</a:t>
            </a:fld>
            <a:endParaRPr lang="nl-NL"/>
          </a:p>
        </p:txBody>
      </p:sp>
      <p:sp>
        <p:nvSpPr>
          <p:cNvPr id="5" name="Tijdelijke aanduiding voor voettekst 4">
            <a:extLst>
              <a:ext uri="{FF2B5EF4-FFF2-40B4-BE49-F238E27FC236}">
                <a16:creationId xmlns:a16="http://schemas.microsoft.com/office/drawing/2014/main" id="{E0636D0C-81F2-780B-BFF3-9EF7228B41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73CE0C00-4EC3-CD48-6D52-3EC5F4FD9F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BA71A0-6CC0-AB46-8BCD-539147384510}" type="slidenum">
              <a:rPr lang="nl-NL" smtClean="0"/>
              <a:t>‹#›</a:t>
            </a:fld>
            <a:endParaRPr lang="nl-NL"/>
          </a:p>
        </p:txBody>
      </p:sp>
      <p:pic>
        <p:nvPicPr>
          <p:cNvPr id="7" name="Afbeelding 6" descr="Afbeelding met cirkel, Graphics, ontwerp&#10;&#10;Automatisch gegenereerde beschrijving">
            <a:extLst>
              <a:ext uri="{FF2B5EF4-FFF2-40B4-BE49-F238E27FC236}">
                <a16:creationId xmlns:a16="http://schemas.microsoft.com/office/drawing/2014/main" id="{C74C4545-F659-FF37-1CD7-1BEC865FE895}"/>
              </a:ext>
            </a:extLst>
          </p:cNvPr>
          <p:cNvPicPr>
            <a:picLocks noChangeAspect="1"/>
          </p:cNvPicPr>
          <p:nvPr userDrawn="1"/>
        </p:nvPicPr>
        <p:blipFill>
          <a:blip r:embed="rId13">
            <a:alphaModFix amt="5000"/>
          </a:blip>
          <a:stretch>
            <a:fillRect/>
          </a:stretch>
        </p:blipFill>
        <p:spPr>
          <a:xfrm>
            <a:off x="4890371" y="1659698"/>
            <a:ext cx="6112118" cy="6112118"/>
          </a:xfrm>
          <a:prstGeom prst="rect">
            <a:avLst/>
          </a:prstGeom>
        </p:spPr>
      </p:pic>
      <p:pic>
        <p:nvPicPr>
          <p:cNvPr id="8" name="Afbeelding 7">
            <a:extLst>
              <a:ext uri="{FF2B5EF4-FFF2-40B4-BE49-F238E27FC236}">
                <a16:creationId xmlns:a16="http://schemas.microsoft.com/office/drawing/2014/main" id="{06AAEDFC-7610-B22E-3788-70CDF9E3441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193490" y="6106510"/>
            <a:ext cx="1239276" cy="469791"/>
          </a:xfrm>
          <a:prstGeom prst="rect">
            <a:avLst/>
          </a:prstGeom>
        </p:spPr>
      </p:pic>
    </p:spTree>
    <p:extLst>
      <p:ext uri="{BB962C8B-B14F-4D97-AF65-F5344CB8AC3E}">
        <p14:creationId xmlns:p14="http://schemas.microsoft.com/office/powerpoint/2010/main" val="1122028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microsoft.com/office/2018/10/relationships/comments" Target="../comments/modernComment_107_C3FD855F.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microsoft.com/office/2018/10/relationships/comments" Target="../comments/modernComment_109_EE5A80A6.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13_1933406B.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12_42DB0F57.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Afbeelding 5" descr="Afbeelding met geel, Graphics, logo, clipart&#10;&#10;Automatisch gegenereerde beschrijving">
            <a:extLst>
              <a:ext uri="{FF2B5EF4-FFF2-40B4-BE49-F238E27FC236}">
                <a16:creationId xmlns:a16="http://schemas.microsoft.com/office/drawing/2014/main" id="{0F1085CA-508E-FE75-9B4B-6027491040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 y="0"/>
            <a:ext cx="12195188" cy="6858000"/>
          </a:xfrm>
          <a:prstGeom prst="rect">
            <a:avLst/>
          </a:prstGeom>
        </p:spPr>
      </p:pic>
      <p:pic>
        <p:nvPicPr>
          <p:cNvPr id="4" name="Afbeelding 3">
            <a:extLst>
              <a:ext uri="{FF2B5EF4-FFF2-40B4-BE49-F238E27FC236}">
                <a16:creationId xmlns:a16="http://schemas.microsoft.com/office/drawing/2014/main" id="{D92717B6-E372-788C-B9A3-911D964C4F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1743" y="5903610"/>
            <a:ext cx="2240246" cy="853045"/>
          </a:xfrm>
          <a:prstGeom prst="rect">
            <a:avLst/>
          </a:prstGeom>
        </p:spPr>
      </p:pic>
      <p:sp>
        <p:nvSpPr>
          <p:cNvPr id="5" name="object 4">
            <a:extLst>
              <a:ext uri="{FF2B5EF4-FFF2-40B4-BE49-F238E27FC236}">
                <a16:creationId xmlns:a16="http://schemas.microsoft.com/office/drawing/2014/main" id="{B3919493-1823-1791-EAB5-F0B1920B225A}"/>
              </a:ext>
            </a:extLst>
          </p:cNvPr>
          <p:cNvSpPr txBox="1"/>
          <p:nvPr/>
        </p:nvSpPr>
        <p:spPr>
          <a:xfrm>
            <a:off x="927339" y="3792878"/>
            <a:ext cx="7918949" cy="628377"/>
          </a:xfrm>
          <a:prstGeom prst="rect">
            <a:avLst/>
          </a:prstGeom>
        </p:spPr>
        <p:txBody>
          <a:bodyPr vert="horz" wrap="square" lIns="0" tIns="12700" rIns="0" bIns="0" rtlCol="0" anchor="t">
            <a:spAutoFit/>
          </a:bodyPr>
          <a:lstStyle/>
          <a:p>
            <a:pPr>
              <a:tabLst>
                <a:tab pos="2246630" algn="l"/>
                <a:tab pos="3862070" algn="l"/>
              </a:tabLst>
            </a:pPr>
            <a:r>
              <a:rPr lang="es-MX" sz="2800" b="1" spc="-20">
                <a:solidFill>
                  <a:schemeClr val="tx2"/>
                </a:solidFill>
                <a:latin typeface="Space Mono" panose="02000509040000020004" pitchFamily="49" charset="77"/>
                <a:ea typeface="Verdana"/>
                <a:cs typeface="Calibri"/>
              </a:rPr>
              <a:t>Colombia</a:t>
            </a:r>
            <a:endParaRPr lang="fr-FR" sz="1200" b="1">
              <a:solidFill>
                <a:schemeClr val="tx2"/>
              </a:solidFill>
              <a:latin typeface="Space Mono" panose="02000509040000020004" pitchFamily="49" charset="77"/>
              <a:ea typeface="Verdana"/>
              <a:cs typeface="Calibri"/>
            </a:endParaRPr>
          </a:p>
          <a:p>
            <a:pPr>
              <a:tabLst>
                <a:tab pos="2246630" algn="l"/>
                <a:tab pos="3862070" algn="l"/>
              </a:tabLst>
            </a:pPr>
            <a:endParaRPr lang="fr-FR" sz="1200">
              <a:latin typeface="Open Sans Medium" pitchFamily="2" charset="0"/>
              <a:ea typeface="Open Sans Medium" pitchFamily="2" charset="0"/>
              <a:cs typeface="Open Sans Medium" pitchFamily="2" charset="0"/>
            </a:endParaRPr>
          </a:p>
        </p:txBody>
      </p:sp>
      <p:sp>
        <p:nvSpPr>
          <p:cNvPr id="8" name="Tekstvak 7">
            <a:extLst>
              <a:ext uri="{FF2B5EF4-FFF2-40B4-BE49-F238E27FC236}">
                <a16:creationId xmlns:a16="http://schemas.microsoft.com/office/drawing/2014/main" id="{767FA683-2572-A72A-7DF8-7491AA02F7F0}"/>
              </a:ext>
            </a:extLst>
          </p:cNvPr>
          <p:cNvSpPr txBox="1"/>
          <p:nvPr/>
        </p:nvSpPr>
        <p:spPr>
          <a:xfrm>
            <a:off x="9593626" y="357352"/>
            <a:ext cx="1128194" cy="276999"/>
          </a:xfrm>
          <a:prstGeom prst="rect">
            <a:avLst/>
          </a:prstGeom>
          <a:noFill/>
        </p:spPr>
        <p:txBody>
          <a:bodyPr wrap="none" rtlCol="0">
            <a:spAutoFit/>
          </a:bodyPr>
          <a:lstStyle/>
          <a:p>
            <a:r>
              <a:rPr lang="nl-NL" sz="1200" spc="-10">
                <a:latin typeface="Open Sans Medium" pitchFamily="2" charset="0"/>
                <a:ea typeface="Open Sans Medium" pitchFamily="2" charset="0"/>
                <a:cs typeface="Open Sans Medium" pitchFamily="2" charset="0"/>
              </a:rPr>
              <a:t>#yellow4flavi</a:t>
            </a:r>
            <a:endParaRPr lang="nl-NL" sz="1200">
              <a:latin typeface="Open Sans Medium" pitchFamily="2" charset="0"/>
              <a:ea typeface="Open Sans Medium" pitchFamily="2" charset="0"/>
              <a:cs typeface="Open Sans Medium" pitchFamily="2" charset="0"/>
            </a:endParaRPr>
          </a:p>
        </p:txBody>
      </p:sp>
      <p:pic>
        <p:nvPicPr>
          <p:cNvPr id="2" name="Image 1" descr="Une image contenant capture d’écran, Bleu électrique, symbole, Bleu Majorelle&#10;&#10;Description générée automatiquement">
            <a:extLst>
              <a:ext uri="{FF2B5EF4-FFF2-40B4-BE49-F238E27FC236}">
                <a16:creationId xmlns:a16="http://schemas.microsoft.com/office/drawing/2014/main" id="{ECC7F207-EDCC-7471-CF39-ACE67C2414AA}"/>
              </a:ext>
            </a:extLst>
          </p:cNvPr>
          <p:cNvPicPr>
            <a:picLocks noChangeAspect="1"/>
          </p:cNvPicPr>
          <p:nvPr/>
        </p:nvPicPr>
        <p:blipFill>
          <a:blip r:embed="rId4"/>
          <a:stretch>
            <a:fillRect/>
          </a:stretch>
        </p:blipFill>
        <p:spPr>
          <a:xfrm>
            <a:off x="848311" y="5898169"/>
            <a:ext cx="874166" cy="874542"/>
          </a:xfrm>
          <a:prstGeom prst="rect">
            <a:avLst/>
          </a:prstGeom>
        </p:spPr>
      </p:pic>
      <p:pic>
        <p:nvPicPr>
          <p:cNvPr id="3" name="Image 2" descr="Une image contenant Graphique, Police, clipart, graphisme&#10;&#10;Description générée automatiquement">
            <a:extLst>
              <a:ext uri="{FF2B5EF4-FFF2-40B4-BE49-F238E27FC236}">
                <a16:creationId xmlns:a16="http://schemas.microsoft.com/office/drawing/2014/main" id="{19F32D12-B800-90C1-5ED6-450954406848}"/>
              </a:ext>
            </a:extLst>
          </p:cNvPr>
          <p:cNvPicPr>
            <a:picLocks noChangeAspect="1"/>
          </p:cNvPicPr>
          <p:nvPr/>
        </p:nvPicPr>
        <p:blipFill>
          <a:blip r:embed="rId5"/>
          <a:stretch>
            <a:fillRect/>
          </a:stretch>
        </p:blipFill>
        <p:spPr>
          <a:xfrm>
            <a:off x="926574" y="1963164"/>
            <a:ext cx="3816651" cy="1465836"/>
          </a:xfrm>
          <a:prstGeom prst="rect">
            <a:avLst/>
          </a:prstGeom>
        </p:spPr>
      </p:pic>
      <p:sp>
        <p:nvSpPr>
          <p:cNvPr id="9" name="ZoneTexte 8">
            <a:extLst>
              <a:ext uri="{FF2B5EF4-FFF2-40B4-BE49-F238E27FC236}">
                <a16:creationId xmlns:a16="http://schemas.microsoft.com/office/drawing/2014/main" id="{A5B9673A-A4B4-36DA-9DE3-4D0ECAF0BC3B}"/>
              </a:ext>
            </a:extLst>
          </p:cNvPr>
          <p:cNvSpPr txBox="1"/>
          <p:nvPr/>
        </p:nvSpPr>
        <p:spPr>
          <a:xfrm>
            <a:off x="2574324" y="6138912"/>
            <a:ext cx="66191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900" i="1">
                <a:solidFill>
                  <a:schemeClr val="tx2"/>
                </a:solidFill>
                <a:latin typeface="Open Sans Condensed Condensed Medium" pitchFamily="2" charset="0"/>
                <a:ea typeface="Open Sans Condensed Condensed Medium" pitchFamily="2" charset="0"/>
                <a:cs typeface="Open Sans Condensed Condensed Medium" pitchFamily="2" charset="0"/>
              </a:rPr>
              <a:t>Funded by the European Union. Views and opinions expressed are however those of the author(s) only and do not necessarily reflect those of the European Union or European Health and Digital Executive Agency (</a:t>
            </a:r>
            <a:r>
              <a:rPr lang="en-US" sz="900" i="1" err="1">
                <a:solidFill>
                  <a:schemeClr val="tx2"/>
                </a:solidFill>
                <a:latin typeface="Open Sans Condensed Condensed Medium" pitchFamily="2" charset="0"/>
                <a:ea typeface="Open Sans Condensed Condensed Medium" pitchFamily="2" charset="0"/>
                <a:cs typeface="Open Sans Condensed Condensed Medium" pitchFamily="2" charset="0"/>
              </a:rPr>
              <a:t>HaDEA</a:t>
            </a:r>
            <a:r>
              <a:rPr lang="en-US" sz="900" i="1">
                <a:solidFill>
                  <a:schemeClr val="tx2"/>
                </a:solidFill>
                <a:latin typeface="Open Sans Condensed Condensed Medium" pitchFamily="2" charset="0"/>
                <a:ea typeface="Open Sans Condensed Condensed Medium" pitchFamily="2" charset="0"/>
                <a:cs typeface="Open Sans Condensed Condensed Medium" pitchFamily="2" charset="0"/>
              </a:rPr>
              <a:t>). Neither the European Union nor the granting authority can be held responsible for them.</a:t>
            </a:r>
          </a:p>
        </p:txBody>
      </p:sp>
    </p:spTree>
    <p:extLst>
      <p:ext uri="{BB962C8B-B14F-4D97-AF65-F5344CB8AC3E}">
        <p14:creationId xmlns:p14="http://schemas.microsoft.com/office/powerpoint/2010/main" val="1352100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6 Most Beautiful Regions in Colombia – Touropia Travel">
            <a:extLst>
              <a:ext uri="{FF2B5EF4-FFF2-40B4-BE49-F238E27FC236}">
                <a16:creationId xmlns:a16="http://schemas.microsoft.com/office/drawing/2014/main" id="{242C0E53-B7D5-ACB3-E9A3-A8908554BF3F}"/>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28557" r="15779"/>
          <a:stretch/>
        </p:blipFill>
        <p:spPr bwMode="auto">
          <a:xfrm>
            <a:off x="1049343" y="1503578"/>
            <a:ext cx="3216537" cy="4737004"/>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12417386-84FF-E5D4-4476-E6488639E665}"/>
              </a:ext>
            </a:extLst>
          </p:cNvPr>
          <p:cNvSpPr txBox="1"/>
          <p:nvPr/>
        </p:nvSpPr>
        <p:spPr>
          <a:xfrm>
            <a:off x="1671972" y="2686349"/>
            <a:ext cx="1148316" cy="215444"/>
          </a:xfrm>
          <a:prstGeom prst="rect">
            <a:avLst/>
          </a:prstGeom>
          <a:noFill/>
        </p:spPr>
        <p:txBody>
          <a:bodyPr wrap="square" rtlCol="0">
            <a:spAutoFit/>
          </a:bodyPr>
          <a:lstStyle/>
          <a:p>
            <a:r>
              <a:rPr lang="es-MX" sz="800" b="1" i="1">
                <a:latin typeface="Arial" panose="020B0604020202020204" pitchFamily="34" charset="0"/>
                <a:cs typeface="Arial" panose="020B0604020202020204" pitchFamily="34" charset="0"/>
              </a:rPr>
              <a:t>Caribe</a:t>
            </a:r>
            <a:endParaRPr lang="es-CO" sz="800" b="1" i="1">
              <a:latin typeface="Arial" panose="020B0604020202020204" pitchFamily="34" charset="0"/>
              <a:cs typeface="Arial" panose="020B0604020202020204" pitchFamily="34" charset="0"/>
            </a:endParaRPr>
          </a:p>
        </p:txBody>
      </p:sp>
      <p:sp>
        <p:nvSpPr>
          <p:cNvPr id="2" name="Tekstvak 1">
            <a:extLst>
              <a:ext uri="{FF2B5EF4-FFF2-40B4-BE49-F238E27FC236}">
                <a16:creationId xmlns:a16="http://schemas.microsoft.com/office/drawing/2014/main" id="{C26B7CBD-2A83-A788-521C-4ABCDA81BEF6}"/>
              </a:ext>
            </a:extLst>
          </p:cNvPr>
          <p:cNvSpPr txBox="1"/>
          <p:nvPr/>
        </p:nvSpPr>
        <p:spPr>
          <a:xfrm>
            <a:off x="9593626" y="357352"/>
            <a:ext cx="1128194" cy="276999"/>
          </a:xfrm>
          <a:prstGeom prst="rect">
            <a:avLst/>
          </a:prstGeom>
          <a:noFill/>
        </p:spPr>
        <p:txBody>
          <a:bodyPr wrap="none" rtlCol="0">
            <a:spAutoFit/>
          </a:bodyPr>
          <a:lstStyle/>
          <a:p>
            <a:r>
              <a:rPr lang="nl-NL" sz="1200" spc="-10">
                <a:latin typeface="Open Sans Medium" pitchFamily="2" charset="0"/>
                <a:ea typeface="Open Sans Medium" pitchFamily="2" charset="0"/>
                <a:cs typeface="Open Sans Medium" pitchFamily="2" charset="0"/>
              </a:rPr>
              <a:t>#yellow4flavi</a:t>
            </a:r>
            <a:endParaRPr lang="nl-NL" sz="1200">
              <a:latin typeface="Open Sans Medium" pitchFamily="2" charset="0"/>
              <a:ea typeface="Open Sans Medium" pitchFamily="2" charset="0"/>
              <a:cs typeface="Open Sans Medium" pitchFamily="2" charset="0"/>
            </a:endParaRPr>
          </a:p>
        </p:txBody>
      </p:sp>
      <p:sp>
        <p:nvSpPr>
          <p:cNvPr id="15" name="Titre 1">
            <a:extLst>
              <a:ext uri="{FF2B5EF4-FFF2-40B4-BE49-F238E27FC236}">
                <a16:creationId xmlns:a16="http://schemas.microsoft.com/office/drawing/2014/main" id="{43DEBD65-3003-9C85-16B7-3933D4B0EADB}"/>
              </a:ext>
            </a:extLst>
          </p:cNvPr>
          <p:cNvSpPr txBox="1">
            <a:spLocks/>
          </p:cNvSpPr>
          <p:nvPr/>
        </p:nvSpPr>
        <p:spPr>
          <a:xfrm>
            <a:off x="838200" y="2977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3600" b="1">
                <a:solidFill>
                  <a:srgbClr val="17287D"/>
                </a:solidFill>
                <a:latin typeface="Space Mono" panose="02000509040000020004" pitchFamily="49" charset="77"/>
              </a:rPr>
              <a:t>FIELDWORK LOCATION</a:t>
            </a:r>
          </a:p>
        </p:txBody>
      </p:sp>
      <p:sp>
        <p:nvSpPr>
          <p:cNvPr id="16" name="Rectangle 5">
            <a:extLst>
              <a:ext uri="{FF2B5EF4-FFF2-40B4-BE49-F238E27FC236}">
                <a16:creationId xmlns:a16="http://schemas.microsoft.com/office/drawing/2014/main" id="{C94C3883-9237-FDDB-DD25-8D611F1DD27F}"/>
              </a:ext>
            </a:extLst>
          </p:cNvPr>
          <p:cNvSpPr>
            <a:spLocks noChangeArrowheads="1"/>
          </p:cNvSpPr>
          <p:nvPr/>
        </p:nvSpPr>
        <p:spPr bwMode="auto">
          <a:xfrm>
            <a:off x="4888509" y="1596357"/>
            <a:ext cx="7094219"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400" b="1">
                <a:solidFill>
                  <a:srgbClr val="FFC000"/>
                </a:solidFill>
                <a:latin typeface="Open Sans" panose="020B0606030504020204" pitchFamily="34" charset="0"/>
                <a:ea typeface="Open Sans" panose="020B0606030504020204" pitchFamily="34" charset="0"/>
                <a:cs typeface="Open Sans" panose="020B0606030504020204" pitchFamily="34" charset="0"/>
              </a:rPr>
              <a:t>Fieldwork</a:t>
            </a:r>
            <a:r>
              <a:rPr lang="en-US" sz="2400">
                <a:latin typeface="Open Sans" panose="020B0606030504020204" pitchFamily="34" charset="0"/>
                <a:ea typeface="Open Sans" panose="020B0606030504020204" pitchFamily="34" charset="0"/>
                <a:cs typeface="Open Sans" panose="020B0606030504020204" pitchFamily="34" charset="0"/>
              </a:rPr>
              <a:t> </a:t>
            </a:r>
            <a:r>
              <a:rPr lang="en-US" sz="2400">
                <a:solidFill>
                  <a:srgbClr val="002060"/>
                </a:solidFill>
                <a:latin typeface="Open Sans" panose="020B0606030504020204" pitchFamily="34" charset="0"/>
                <a:ea typeface="Open Sans" panose="020B0606030504020204" pitchFamily="34" charset="0"/>
                <a:cs typeface="Open Sans" panose="020B0606030504020204" pitchFamily="34" charset="0"/>
              </a:rPr>
              <a:t>is being conducted across all five regions</a:t>
            </a:r>
            <a:r>
              <a:rPr lang="en-US" sz="2400">
                <a:latin typeface="Open Sans" panose="020B0606030504020204" pitchFamily="34" charset="0"/>
                <a:ea typeface="Open Sans" panose="020B0606030504020204" pitchFamily="34" charset="0"/>
                <a:cs typeface="Open Sans" panose="020B0606030504020204" pitchFamily="34" charset="0"/>
              </a:rPr>
              <a:t>: </a:t>
            </a:r>
            <a:r>
              <a:rPr lang="en-US" sz="2400">
                <a:solidFill>
                  <a:srgbClr val="002060"/>
                </a:solidFill>
                <a:latin typeface="Open Sans" panose="020B0606030504020204" pitchFamily="34" charset="0"/>
                <a:ea typeface="Open Sans" panose="020B0606030504020204" pitchFamily="34" charset="0"/>
                <a:cs typeface="Open Sans" panose="020B0606030504020204" pitchFamily="34" charset="0"/>
              </a:rPr>
              <a:t>in</a:t>
            </a:r>
            <a:r>
              <a:rPr lang="en-US" sz="2400">
                <a:latin typeface="Open Sans" panose="020B0606030504020204" pitchFamily="34" charset="0"/>
                <a:ea typeface="Open Sans" panose="020B0606030504020204" pitchFamily="34" charset="0"/>
                <a:cs typeface="Open Sans" panose="020B0606030504020204" pitchFamily="34" charset="0"/>
              </a:rPr>
              <a:t> </a:t>
            </a:r>
            <a:r>
              <a:rPr lang="en-US" sz="2400" b="1">
                <a:solidFill>
                  <a:srgbClr val="FFC000"/>
                </a:solidFill>
                <a:latin typeface="Open Sans" panose="020B0606030504020204" pitchFamily="34" charset="0"/>
                <a:ea typeface="Open Sans" panose="020B0606030504020204" pitchFamily="34" charset="0"/>
                <a:cs typeface="Open Sans" panose="020B0606030504020204" pitchFamily="34" charset="0"/>
              </a:rPr>
              <a:t>non-endemic areas of two regions </a:t>
            </a:r>
            <a:r>
              <a:rPr lang="en-US" sz="2400">
                <a:solidFill>
                  <a:srgbClr val="002060"/>
                </a:solidFill>
                <a:latin typeface="Open Sans" panose="020B0606030504020204" pitchFamily="34" charset="0"/>
                <a:ea typeface="Open Sans" panose="020B0606030504020204" pitchFamily="34" charset="0"/>
                <a:cs typeface="Open Sans" panose="020B0606030504020204" pitchFamily="34" charset="0"/>
              </a:rPr>
              <a:t>and</a:t>
            </a:r>
            <a:r>
              <a:rPr lang="en-US" sz="2400">
                <a:latin typeface="Open Sans" panose="020B0606030504020204" pitchFamily="34" charset="0"/>
                <a:ea typeface="Open Sans" panose="020B0606030504020204" pitchFamily="34" charset="0"/>
                <a:cs typeface="Open Sans" panose="020B0606030504020204" pitchFamily="34" charset="0"/>
              </a:rPr>
              <a:t> </a:t>
            </a:r>
            <a:r>
              <a:rPr lang="en-US" sz="2400" b="1">
                <a:solidFill>
                  <a:srgbClr val="FFC000"/>
                </a:solidFill>
                <a:latin typeface="Open Sans" panose="020B0606030504020204" pitchFamily="34" charset="0"/>
                <a:ea typeface="Open Sans" panose="020B0606030504020204" pitchFamily="34" charset="0"/>
                <a:cs typeface="Open Sans" panose="020B0606030504020204" pitchFamily="34" charset="0"/>
              </a:rPr>
              <a:t>endemic areas of three regions.</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b="1">
              <a:solidFill>
                <a:srgbClr val="17287D"/>
              </a:solidFill>
              <a:latin typeface="Open Sans" panose="020B0606030504020204" pitchFamily="34" charset="0"/>
              <a:ea typeface="Open Sans" panose="020B0606030504020204" pitchFamily="34" charset="0"/>
              <a:cs typeface="Open Sans" panose="020B0606030504020204" pitchFamily="34" charset="0"/>
            </a:endParaRPr>
          </a:p>
          <a:p>
            <a:pPr eaLnBrk="0" fontAlgn="base" hangingPunct="0">
              <a:spcBef>
                <a:spcPct val="0"/>
              </a:spcBef>
              <a:spcAft>
                <a:spcPct val="0"/>
              </a:spcAft>
            </a:pPr>
            <a:r>
              <a:rPr kumimoji="0" lang="es-CO" altLang="es-CO" sz="240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In </a:t>
            </a:r>
            <a:r>
              <a:rPr kumimoji="0" lang="es-CO" altLang="es-CO" sz="2400" i="0" u="none" strike="noStrike" cap="none" normalizeH="0" baseline="0" err="1">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each</a:t>
            </a:r>
            <a:r>
              <a:rPr kumimoji="0" lang="es-CO" altLang="es-CO" sz="240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i="0" u="none" strike="noStrike" cap="none" normalizeH="0" baseline="0" err="1">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region</a:t>
            </a:r>
            <a:r>
              <a:rPr kumimoji="0" lang="es-CO" altLang="es-CO" sz="240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b="1" i="0" u="none" strike="noStrike" cap="none" normalizeH="0" baseline="0">
                <a:ln>
                  <a:noFill/>
                </a:ln>
                <a:solidFill>
                  <a:srgbClr val="F2C301"/>
                </a:solidFill>
                <a:effectLst/>
                <a:latin typeface="Open Sans" panose="020B0606030504020204" pitchFamily="34" charset="0"/>
                <a:ea typeface="Open Sans" panose="020B0606030504020204" pitchFamily="34" charset="0"/>
                <a:cs typeface="Open Sans" panose="020B0606030504020204" pitchFamily="34" charset="0"/>
              </a:rPr>
              <a:t>2 </a:t>
            </a:r>
            <a:r>
              <a:rPr kumimoji="0" lang="es-CO" altLang="es-CO" sz="2400" b="1" i="0" u="none" strike="noStrike" cap="none" normalizeH="0" baseline="0" err="1">
                <a:ln>
                  <a:noFill/>
                </a:ln>
                <a:solidFill>
                  <a:srgbClr val="F2C301"/>
                </a:solidFill>
                <a:effectLst/>
                <a:latin typeface="Open Sans" panose="020B0606030504020204" pitchFamily="34" charset="0"/>
                <a:ea typeface="Open Sans" panose="020B0606030504020204" pitchFamily="34" charset="0"/>
                <a:cs typeface="Open Sans" panose="020B0606030504020204" pitchFamily="34" charset="0"/>
              </a:rPr>
              <a:t>focus</a:t>
            </a:r>
            <a:r>
              <a:rPr kumimoji="0" lang="es-CO" altLang="es-CO" sz="2400" b="1" i="0" u="none" strike="noStrike" cap="none" normalizeH="0" baseline="0">
                <a:ln>
                  <a:noFill/>
                </a:ln>
                <a:solidFill>
                  <a:srgbClr val="F2C301"/>
                </a:solidFill>
                <a:effectLst/>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b="1" i="0" u="none" strike="noStrike" cap="none" normalizeH="0" baseline="0" err="1">
                <a:ln>
                  <a:noFill/>
                </a:ln>
                <a:solidFill>
                  <a:srgbClr val="F2C301"/>
                </a:solidFill>
                <a:effectLst/>
                <a:latin typeface="Open Sans" panose="020B0606030504020204" pitchFamily="34" charset="0"/>
                <a:ea typeface="Open Sans" panose="020B0606030504020204" pitchFamily="34" charset="0"/>
                <a:cs typeface="Open Sans" panose="020B0606030504020204" pitchFamily="34" charset="0"/>
              </a:rPr>
              <a:t>groups</a:t>
            </a:r>
            <a:r>
              <a:rPr kumimoji="0" lang="es-CO" altLang="es-CO" sz="2400" b="1" i="0" u="none" strike="noStrike" cap="none" normalizeH="0" baseline="0">
                <a:ln>
                  <a:noFill/>
                </a:ln>
                <a:solidFill>
                  <a:srgbClr val="F2C301"/>
                </a:solidFill>
                <a:effectLst/>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and</a:t>
            </a:r>
            <a:r>
              <a:rPr kumimoji="0" lang="es-CO" altLang="es-CO" sz="2400" b="1" i="0" u="none" strike="noStrike" cap="none" normalizeH="0" baseline="0">
                <a:ln>
                  <a:noFill/>
                </a:ln>
                <a:solidFill>
                  <a:srgbClr val="F2C301"/>
                </a:solidFill>
                <a:effectLst/>
                <a:latin typeface="Open Sans" panose="020B0606030504020204" pitchFamily="34" charset="0"/>
                <a:ea typeface="Open Sans" panose="020B0606030504020204" pitchFamily="34" charset="0"/>
                <a:cs typeface="Open Sans" panose="020B0606030504020204" pitchFamily="34" charset="0"/>
              </a:rPr>
              <a:t> 1 interview </a:t>
            </a:r>
            <a:r>
              <a:rPr kumimoji="0" lang="es-CO" altLang="es-CO" sz="240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are </a:t>
            </a:r>
            <a:r>
              <a:rPr kumimoji="0" lang="es-CO" altLang="es-CO" sz="2400" i="0" u="none" strike="noStrike" cap="none" normalizeH="0" baseline="0" err="1">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conducted</a:t>
            </a:r>
            <a:r>
              <a:rPr kumimoji="0" lang="es-CO" altLang="es-CO" sz="240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b="1">
              <a:solidFill>
                <a:srgbClr val="17287D"/>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400">
                <a:solidFill>
                  <a:srgbClr val="17287D"/>
                </a:solidFill>
                <a:latin typeface="Open Sans" panose="020B0606030504020204" pitchFamily="34" charset="0"/>
                <a:ea typeface="Open Sans" panose="020B0606030504020204" pitchFamily="34" charset="0"/>
                <a:cs typeface="Open Sans" panose="020B0606030504020204" pitchFamily="34" charset="0"/>
              </a:rPr>
              <a:t>So far, fieldwork has been conducted in non-endemic areas.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s-CO" sz="2400" b="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b="0" i="0" u="none" strike="noStrike" cap="none" normalizeH="0" baseline="0" err="1">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Andean</a:t>
            </a:r>
            <a:r>
              <a:rPr kumimoji="0" lang="es-CO" altLang="es-CO" sz="2400" b="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b="0" i="0" u="none" strike="noStrike" cap="none" normalizeH="0" baseline="0" err="1">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region</a:t>
            </a:r>
            <a:r>
              <a:rPr kumimoji="0" lang="es-CO" altLang="es-CO" sz="2400" b="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 – </a:t>
            </a:r>
            <a:r>
              <a:rPr kumimoji="0" lang="es-CO" altLang="es-CO" sz="2400" b="1" i="0" u="none" strike="noStrike" cap="none" normalizeH="0" baseline="0">
                <a:ln>
                  <a:noFill/>
                </a:ln>
                <a:solidFill>
                  <a:srgbClr val="F2C301"/>
                </a:solidFill>
                <a:effectLst/>
                <a:latin typeface="Open Sans" panose="020B0606030504020204" pitchFamily="34" charset="0"/>
                <a:ea typeface="Open Sans" panose="020B0606030504020204" pitchFamily="34" charset="0"/>
                <a:cs typeface="Open Sans" panose="020B0606030504020204" pitchFamily="34" charset="0"/>
              </a:rPr>
              <a:t>Bogotá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1" i="0" u="none" strike="noStrike" cap="none" normalizeH="0" baseline="0">
              <a:ln>
                <a:noFill/>
              </a:ln>
              <a:solidFill>
                <a:srgbClr val="F2C30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CO" altLang="es-CO" sz="2400" b="1">
                <a:solidFill>
                  <a:srgbClr val="F2C301"/>
                </a:solidFill>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b="0" i="0" u="none" strike="noStrike" cap="none" normalizeH="0" baseline="0" err="1">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Pacific</a:t>
            </a:r>
            <a:r>
              <a:rPr kumimoji="0" lang="es-CO" altLang="es-CO" sz="2400" b="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b="0" i="0" u="none" strike="noStrike" cap="none" normalizeH="0" baseline="0" err="1">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region</a:t>
            </a:r>
            <a:r>
              <a:rPr kumimoji="0" lang="es-CO" altLang="es-CO" sz="2400" b="0" i="0" u="none" strike="noStrike" cap="none" normalizeH="0" baseline="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b="0" i="0" u="none" strike="noStrike" cap="none" normalizeH="0">
                <a:ln>
                  <a:noFill/>
                </a:ln>
                <a:solidFill>
                  <a:srgbClr val="17287D"/>
                </a:solidFill>
                <a:effectLst/>
                <a:latin typeface="Open Sans" panose="020B0606030504020204" pitchFamily="34" charset="0"/>
                <a:ea typeface="Open Sans" panose="020B0606030504020204" pitchFamily="34" charset="0"/>
                <a:cs typeface="Open Sans" panose="020B0606030504020204" pitchFamily="34" charset="0"/>
              </a:rPr>
              <a:t> </a:t>
            </a:r>
            <a:r>
              <a:rPr kumimoji="0" lang="es-CO" altLang="es-CO" sz="2400" b="1" i="0" u="none" strike="noStrike" cap="none" normalizeH="0" baseline="0">
                <a:ln>
                  <a:noFill/>
                </a:ln>
                <a:solidFill>
                  <a:srgbClr val="F2C301"/>
                </a:solidFill>
                <a:effectLst/>
                <a:latin typeface="Open Sans" panose="020B0606030504020204" pitchFamily="34" charset="0"/>
                <a:ea typeface="Open Sans" panose="020B0606030504020204" pitchFamily="34" charset="0"/>
                <a:cs typeface="Open Sans" panose="020B0606030504020204" pitchFamily="34" charset="0"/>
              </a:rPr>
              <a:t>Cali</a:t>
            </a:r>
          </a:p>
        </p:txBody>
      </p:sp>
      <p:sp>
        <p:nvSpPr>
          <p:cNvPr id="18" name="Flecha derecha 17"/>
          <p:cNvSpPr/>
          <p:nvPr/>
        </p:nvSpPr>
        <p:spPr>
          <a:xfrm>
            <a:off x="5034926" y="5376344"/>
            <a:ext cx="332591" cy="268941"/>
          </a:xfrm>
          <a:prstGeom prst="rightArrow">
            <a:avLst/>
          </a:prstGeom>
          <a:solidFill>
            <a:srgbClr val="F2C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9" name="Flecha derecha 18"/>
          <p:cNvSpPr/>
          <p:nvPr/>
        </p:nvSpPr>
        <p:spPr>
          <a:xfrm>
            <a:off x="5034926" y="6106111"/>
            <a:ext cx="332591" cy="268941"/>
          </a:xfrm>
          <a:prstGeom prst="rightArrow">
            <a:avLst/>
          </a:prstGeom>
          <a:solidFill>
            <a:srgbClr val="F2C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Rectángulo 19"/>
          <p:cNvSpPr/>
          <p:nvPr/>
        </p:nvSpPr>
        <p:spPr>
          <a:xfrm>
            <a:off x="1919367" y="1643815"/>
            <a:ext cx="699247" cy="2474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363224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EBD65-3003-9C85-16B7-3933D4B0EADB}"/>
              </a:ext>
            </a:extLst>
          </p:cNvPr>
          <p:cNvSpPr>
            <a:spLocks noGrp="1"/>
          </p:cNvSpPr>
          <p:nvPr>
            <p:ph type="title"/>
          </p:nvPr>
        </p:nvSpPr>
        <p:spPr/>
        <p:txBody>
          <a:bodyPr>
            <a:normAutofit/>
          </a:bodyPr>
          <a:lstStyle/>
          <a:p>
            <a:r>
              <a:rPr lang="fr-FR" sz="3600" b="1">
                <a:solidFill>
                  <a:srgbClr val="002060"/>
                </a:solidFill>
                <a:latin typeface="Space Mono" panose="02000509040000020004" pitchFamily="49" charset="77"/>
              </a:rPr>
              <a:t>PARTICIPANTS</a:t>
            </a:r>
          </a:p>
        </p:txBody>
      </p:sp>
      <p:sp>
        <p:nvSpPr>
          <p:cNvPr id="4" name="Espace réservé de la date 3">
            <a:extLst>
              <a:ext uri="{FF2B5EF4-FFF2-40B4-BE49-F238E27FC236}">
                <a16:creationId xmlns:a16="http://schemas.microsoft.com/office/drawing/2014/main" id="{B90FB047-1276-DA89-CA45-E09C8E0D6EF3}"/>
              </a:ext>
            </a:extLst>
          </p:cNvPr>
          <p:cNvSpPr>
            <a:spLocks noGrp="1"/>
          </p:cNvSpPr>
          <p:nvPr>
            <p:ph type="dt" sz="half" idx="10"/>
          </p:nvPr>
        </p:nvSpPr>
        <p:spPr/>
        <p:txBody>
          <a:bodyPr/>
          <a:lstStyle/>
          <a:p>
            <a:fld id="{94526031-CB8A-5F42-A6F0-E6F32424FB55}" type="datetime1">
              <a:rPr lang="nl-NL" sz="1000" smtClean="0">
                <a:latin typeface="Open Sans Light" pitchFamily="2" charset="0"/>
                <a:ea typeface="Open Sans Light" pitchFamily="2" charset="0"/>
                <a:cs typeface="Open Sans Light" pitchFamily="2" charset="0"/>
              </a:rPr>
              <a:t>7-7-2025</a:t>
            </a:fld>
            <a:endParaRPr lang="nl-NL" sz="1000">
              <a:latin typeface="Open Sans Light" pitchFamily="2" charset="0"/>
              <a:ea typeface="Open Sans Light" pitchFamily="2" charset="0"/>
              <a:cs typeface="Open Sans Light" pitchFamily="2" charset="0"/>
            </a:endParaRPr>
          </a:p>
        </p:txBody>
      </p:sp>
      <p:sp>
        <p:nvSpPr>
          <p:cNvPr id="5" name="Espace réservé du numéro de diapositive 4">
            <a:extLst>
              <a:ext uri="{FF2B5EF4-FFF2-40B4-BE49-F238E27FC236}">
                <a16:creationId xmlns:a16="http://schemas.microsoft.com/office/drawing/2014/main" id="{64BF1477-643A-6A43-4DE5-808A609B9A91}"/>
              </a:ext>
            </a:extLst>
          </p:cNvPr>
          <p:cNvSpPr>
            <a:spLocks noGrp="1"/>
          </p:cNvSpPr>
          <p:nvPr>
            <p:ph type="sldNum" sz="quarter" idx="12"/>
          </p:nvPr>
        </p:nvSpPr>
        <p:spPr/>
        <p:txBody>
          <a:bodyPr/>
          <a:lstStyle/>
          <a:p>
            <a:fld id="{8BBA71A0-6CC0-AB46-8BCD-539147384510}" type="slidenum">
              <a:rPr lang="nl-NL" smtClean="0">
                <a:latin typeface="Open Sans" pitchFamily="2" charset="0"/>
                <a:ea typeface="Open Sans" pitchFamily="2" charset="0"/>
                <a:cs typeface="Open Sans" pitchFamily="2" charset="0"/>
              </a:rPr>
              <a:t>3</a:t>
            </a:fld>
            <a:endParaRPr lang="nl-NL">
              <a:latin typeface="Open Sans" pitchFamily="2" charset="0"/>
              <a:ea typeface="Open Sans" pitchFamily="2" charset="0"/>
              <a:cs typeface="Open Sans" pitchFamily="2" charset="0"/>
            </a:endParaRPr>
          </a:p>
        </p:txBody>
      </p:sp>
      <p:sp>
        <p:nvSpPr>
          <p:cNvPr id="10" name="Espace réservé du contenu 2">
            <a:extLst>
              <a:ext uri="{FF2B5EF4-FFF2-40B4-BE49-F238E27FC236}">
                <a16:creationId xmlns:a16="http://schemas.microsoft.com/office/drawing/2014/main" id="{D7E49828-EABD-5D37-6D35-F65CC3B5691A}"/>
              </a:ext>
            </a:extLst>
          </p:cNvPr>
          <p:cNvSpPr txBox="1">
            <a:spLocks/>
          </p:cNvSpPr>
          <p:nvPr/>
        </p:nvSpPr>
        <p:spPr>
          <a:xfrm>
            <a:off x="838200" y="1556988"/>
            <a:ext cx="3583193" cy="1506071"/>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5000" b="1">
                <a:solidFill>
                  <a:srgbClr val="F2C301"/>
                </a:solidFill>
                <a:latin typeface="Open Sans Light" pitchFamily="2" charset="0"/>
                <a:ea typeface="Open Sans Light" pitchFamily="2" charset="0"/>
                <a:cs typeface="Open Sans Light" pitchFamily="2" charset="0"/>
              </a:rPr>
              <a:t>51</a:t>
            </a:r>
            <a:r>
              <a:rPr lang="fr-FR" sz="2400">
                <a:latin typeface="Open Sans Light" pitchFamily="2" charset="0"/>
                <a:ea typeface="Open Sans Light" pitchFamily="2" charset="0"/>
                <a:cs typeface="Open Sans Light" pitchFamily="2" charset="0"/>
              </a:rPr>
              <a:t> </a:t>
            </a:r>
            <a:r>
              <a:rPr lang="en-US" sz="2400">
                <a:solidFill>
                  <a:srgbClr val="17287D"/>
                </a:solidFill>
                <a:latin typeface="Open Sans Light" pitchFamily="2" charset="0"/>
                <a:ea typeface="Open Sans Light" pitchFamily="2" charset="0"/>
                <a:cs typeface="Open Sans Light" pitchFamily="2" charset="0"/>
              </a:rPr>
              <a:t>participants have already taken part in face-to-face interviews and focus groups.</a:t>
            </a:r>
            <a:endParaRPr lang="fr-FR" sz="2400">
              <a:solidFill>
                <a:srgbClr val="17287D"/>
              </a:solidFill>
              <a:latin typeface="Open Sans Light" pitchFamily="2" charset="0"/>
              <a:ea typeface="Open Sans Light" pitchFamily="2" charset="0"/>
              <a:cs typeface="Open Sans Light" pitchFamily="2" charset="0"/>
            </a:endParaRPr>
          </a:p>
        </p:txBody>
      </p:sp>
      <p:sp>
        <p:nvSpPr>
          <p:cNvPr id="11" name="Espace réservé du contenu 2">
            <a:extLst>
              <a:ext uri="{FF2B5EF4-FFF2-40B4-BE49-F238E27FC236}">
                <a16:creationId xmlns:a16="http://schemas.microsoft.com/office/drawing/2014/main" id="{D7E49828-EABD-5D37-6D35-F65CC3B5691A}"/>
              </a:ext>
            </a:extLst>
          </p:cNvPr>
          <p:cNvSpPr txBox="1">
            <a:spLocks/>
          </p:cNvSpPr>
          <p:nvPr/>
        </p:nvSpPr>
        <p:spPr>
          <a:xfrm>
            <a:off x="781161" y="4945017"/>
            <a:ext cx="3583193" cy="1215614"/>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5000" b="1">
                <a:solidFill>
                  <a:srgbClr val="F2C301"/>
                </a:solidFill>
                <a:latin typeface="Open Sans Light" pitchFamily="2" charset="0"/>
                <a:ea typeface="Open Sans Light" pitchFamily="2" charset="0"/>
                <a:cs typeface="Open Sans Light" pitchFamily="2" charset="0"/>
              </a:rPr>
              <a:t>69%</a:t>
            </a:r>
            <a:r>
              <a:rPr lang="fr-FR" sz="2400">
                <a:solidFill>
                  <a:srgbClr val="F2C301"/>
                </a:solidFill>
                <a:latin typeface="Open Sans Light" pitchFamily="2" charset="0"/>
                <a:ea typeface="Open Sans Light" pitchFamily="2" charset="0"/>
                <a:cs typeface="Open Sans Light" pitchFamily="2" charset="0"/>
              </a:rPr>
              <a:t> </a:t>
            </a:r>
            <a:r>
              <a:rPr lang="fr-FR" sz="2400">
                <a:solidFill>
                  <a:srgbClr val="17287D"/>
                </a:solidFill>
                <a:latin typeface="Open Sans Light" pitchFamily="2" charset="0"/>
                <a:ea typeface="Open Sans Light" pitchFamily="2" charset="0"/>
                <a:cs typeface="Open Sans Light" pitchFamily="2" charset="0"/>
              </a:rPr>
              <a:t>of participants </a:t>
            </a:r>
            <a:r>
              <a:rPr lang="fr-FR" sz="2400" err="1">
                <a:solidFill>
                  <a:srgbClr val="17287D"/>
                </a:solidFill>
                <a:latin typeface="Open Sans Light" pitchFamily="2" charset="0"/>
                <a:ea typeface="Open Sans Light" pitchFamily="2" charset="0"/>
                <a:cs typeface="Open Sans Light" pitchFamily="2" charset="0"/>
              </a:rPr>
              <a:t>were</a:t>
            </a:r>
            <a:r>
              <a:rPr lang="fr-FR" sz="2400">
                <a:solidFill>
                  <a:srgbClr val="17287D"/>
                </a:solidFill>
                <a:latin typeface="Open Sans Light" pitchFamily="2" charset="0"/>
                <a:ea typeface="Open Sans Light" pitchFamily="2" charset="0"/>
                <a:cs typeface="Open Sans Light" pitchFamily="2" charset="0"/>
              </a:rPr>
              <a:t> </a:t>
            </a:r>
            <a:r>
              <a:rPr lang="fr-FR" sz="2400" err="1">
                <a:solidFill>
                  <a:srgbClr val="17287D"/>
                </a:solidFill>
                <a:latin typeface="Open Sans Light" pitchFamily="2" charset="0"/>
                <a:ea typeface="Open Sans Light" pitchFamily="2" charset="0"/>
                <a:cs typeface="Open Sans Light" pitchFamily="2" charset="0"/>
              </a:rPr>
              <a:t>women</a:t>
            </a:r>
            <a:r>
              <a:rPr lang="fr-FR" sz="2400">
                <a:solidFill>
                  <a:srgbClr val="17287D"/>
                </a:solidFill>
                <a:latin typeface="Open Sans Light" pitchFamily="2" charset="0"/>
                <a:ea typeface="Open Sans Light" pitchFamily="2" charset="0"/>
                <a:cs typeface="Open Sans Light" pitchFamily="2" charset="0"/>
              </a:rPr>
              <a:t>. </a:t>
            </a:r>
          </a:p>
        </p:txBody>
      </p:sp>
      <p:sp>
        <p:nvSpPr>
          <p:cNvPr id="12" name="Espace réservé du contenu 2">
            <a:extLst>
              <a:ext uri="{FF2B5EF4-FFF2-40B4-BE49-F238E27FC236}">
                <a16:creationId xmlns:a16="http://schemas.microsoft.com/office/drawing/2014/main" id="{D7E49828-EABD-5D37-6D35-F65CC3B5691A}"/>
              </a:ext>
            </a:extLst>
          </p:cNvPr>
          <p:cNvSpPr txBox="1">
            <a:spLocks/>
          </p:cNvSpPr>
          <p:nvPr/>
        </p:nvSpPr>
        <p:spPr>
          <a:xfrm>
            <a:off x="781162" y="3429000"/>
            <a:ext cx="3583193" cy="1320298"/>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b="1">
                <a:solidFill>
                  <a:srgbClr val="F2C301"/>
                </a:solidFill>
                <a:latin typeface="Open Sans Light" pitchFamily="2" charset="0"/>
                <a:ea typeface="Open Sans Light" pitchFamily="2" charset="0"/>
                <a:cs typeface="Open Sans Light" pitchFamily="2" charset="0"/>
              </a:rPr>
              <a:t>18–73</a:t>
            </a:r>
            <a:r>
              <a:rPr lang="en-US" sz="2400">
                <a:latin typeface="Open Sans Light" pitchFamily="2" charset="0"/>
                <a:ea typeface="Open Sans Light" pitchFamily="2" charset="0"/>
                <a:cs typeface="Open Sans Light" pitchFamily="2" charset="0"/>
              </a:rPr>
              <a:t> </a:t>
            </a:r>
            <a:r>
              <a:rPr lang="en-US" sz="2400">
                <a:solidFill>
                  <a:srgbClr val="17287D"/>
                </a:solidFill>
                <a:latin typeface="Open Sans Light" pitchFamily="2" charset="0"/>
                <a:ea typeface="Open Sans Light" pitchFamily="2" charset="0"/>
                <a:cs typeface="Open Sans Light" pitchFamily="2" charset="0"/>
              </a:rPr>
              <a:t>years old was the age range of the participants.</a:t>
            </a:r>
            <a:endParaRPr lang="fr-FR" sz="2400">
              <a:solidFill>
                <a:srgbClr val="17287D"/>
              </a:solidFill>
              <a:latin typeface="Open Sans Light" pitchFamily="2" charset="0"/>
              <a:ea typeface="Open Sans Light" pitchFamily="2" charset="0"/>
              <a:cs typeface="Open Sans Light" pitchFamily="2" charset="0"/>
            </a:endParaRPr>
          </a:p>
        </p:txBody>
      </p:sp>
      <p:pic>
        <p:nvPicPr>
          <p:cNvPr id="16" name="Imagen 15">
            <a:extLst>
              <a:ext uri="{FF2B5EF4-FFF2-40B4-BE49-F238E27FC236}">
                <a16:creationId xmlns:a16="http://schemas.microsoft.com/office/drawing/2014/main" id="{4ECD481B-A0A5-402F-BC02-A69BA11EFC18}"/>
              </a:ext>
            </a:extLst>
          </p:cNvPr>
          <p:cNvPicPr>
            <a:picLocks noChangeAspect="1"/>
          </p:cNvPicPr>
          <p:nvPr/>
        </p:nvPicPr>
        <p:blipFill>
          <a:blip r:embed="rId3"/>
          <a:stretch>
            <a:fillRect/>
          </a:stretch>
        </p:blipFill>
        <p:spPr>
          <a:xfrm>
            <a:off x="5257321" y="1408398"/>
            <a:ext cx="6188395" cy="4398042"/>
          </a:xfrm>
          <a:prstGeom prst="rect">
            <a:avLst/>
          </a:prstGeom>
        </p:spPr>
      </p:pic>
    </p:spTree>
    <p:extLst>
      <p:ext uri="{BB962C8B-B14F-4D97-AF65-F5344CB8AC3E}">
        <p14:creationId xmlns:p14="http://schemas.microsoft.com/office/powerpoint/2010/main" val="3288171871"/>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EBD65-3003-9C85-16B7-3933D4B0EADB}"/>
              </a:ext>
            </a:extLst>
          </p:cNvPr>
          <p:cNvSpPr>
            <a:spLocks noGrp="1"/>
          </p:cNvSpPr>
          <p:nvPr>
            <p:ph type="title"/>
          </p:nvPr>
        </p:nvSpPr>
        <p:spPr/>
        <p:txBody>
          <a:bodyPr>
            <a:normAutofit/>
          </a:bodyPr>
          <a:lstStyle/>
          <a:p>
            <a:r>
              <a:rPr lang="fr-FR" sz="3600" b="1">
                <a:solidFill>
                  <a:srgbClr val="17287D"/>
                </a:solidFill>
                <a:latin typeface="Space Mono" panose="02000509040000020004" pitchFamily="49" charset="77"/>
              </a:rPr>
              <a:t>FINDINGS</a:t>
            </a:r>
          </a:p>
        </p:txBody>
      </p:sp>
      <p:sp>
        <p:nvSpPr>
          <p:cNvPr id="3" name="Espace réservé du contenu 2">
            <a:extLst>
              <a:ext uri="{FF2B5EF4-FFF2-40B4-BE49-F238E27FC236}">
                <a16:creationId xmlns:a16="http://schemas.microsoft.com/office/drawing/2014/main" id="{D7E49828-EABD-5D37-6D35-F65CC3B5691A}"/>
              </a:ext>
            </a:extLst>
          </p:cNvPr>
          <p:cNvSpPr>
            <a:spLocks noGrp="1"/>
          </p:cNvSpPr>
          <p:nvPr>
            <p:ph idx="1"/>
          </p:nvPr>
        </p:nvSpPr>
        <p:spPr>
          <a:xfrm>
            <a:off x="409913" y="4682331"/>
            <a:ext cx="3639573" cy="4351338"/>
          </a:xfrm>
        </p:spPr>
        <p:txBody>
          <a:bodyPr>
            <a:normAutofit/>
          </a:bodyPr>
          <a:lstStyle/>
          <a:p>
            <a:pPr marL="0" indent="0">
              <a:buNone/>
            </a:pPr>
            <a:r>
              <a:rPr lang="en-US" sz="1400">
                <a:solidFill>
                  <a:srgbClr val="17287D"/>
                </a:solidFill>
                <a:latin typeface="Open Sans" panose="020B0606030504020204" pitchFamily="34" charset="0"/>
                <a:ea typeface="Open Sans" panose="020B0606030504020204" pitchFamily="34" charset="0"/>
                <a:cs typeface="Open Sans" panose="020B0606030504020204" pitchFamily="34" charset="0"/>
              </a:rPr>
              <a:t>Underlined = high concentration</a:t>
            </a:r>
          </a:p>
          <a:p>
            <a:pPr marL="0" indent="0">
              <a:buNone/>
            </a:pPr>
            <a:r>
              <a:rPr lang="en-US" sz="1400">
                <a:solidFill>
                  <a:srgbClr val="17287D"/>
                </a:solidFill>
                <a:latin typeface="Open Sans" panose="020B0606030504020204" pitchFamily="34" charset="0"/>
                <a:ea typeface="Open Sans" panose="020B0606030504020204" pitchFamily="34" charset="0"/>
                <a:cs typeface="Open Sans" panose="020B0606030504020204" pitchFamily="34" charset="0"/>
              </a:rPr>
              <a:t>Italic = medium concentration</a:t>
            </a:r>
          </a:p>
          <a:p>
            <a:pPr marL="0" indent="0">
              <a:buNone/>
            </a:pPr>
            <a:r>
              <a:rPr lang="en-US" sz="1400">
                <a:solidFill>
                  <a:srgbClr val="17287D"/>
                </a:solidFill>
                <a:latin typeface="Open Sans" panose="020B0606030504020204" pitchFamily="34" charset="0"/>
                <a:ea typeface="Open Sans" panose="020B0606030504020204" pitchFamily="34" charset="0"/>
                <a:cs typeface="Open Sans" panose="020B0606030504020204" pitchFamily="34" charset="0"/>
              </a:rPr>
              <a:t>Normal text = low concentration</a:t>
            </a:r>
          </a:p>
          <a:p>
            <a:pPr marL="0" indent="0">
              <a:buNone/>
            </a:pPr>
            <a:r>
              <a:rPr lang="en-US" sz="1400" b="0" i="0">
                <a:solidFill>
                  <a:srgbClr val="17287D"/>
                </a:solidFill>
                <a:effectLst/>
                <a:latin typeface="Open Sans" panose="020B0606030504020204" pitchFamily="34" charset="0"/>
                <a:ea typeface="Open Sans" panose="020B0606030504020204" pitchFamily="34" charset="0"/>
                <a:cs typeface="Open Sans" panose="020B0606030504020204" pitchFamily="34" charset="0"/>
              </a:rPr>
              <a:t>*, ** and *** denote codes with more than 50, 75, and 100 cites, respectively. </a:t>
            </a:r>
            <a:r>
              <a:rPr lang="en-US" sz="1800" b="0" i="0">
                <a:solidFill>
                  <a:srgbClr val="000000"/>
                </a:solidFill>
                <a:effectLst/>
                <a:latin typeface="Aptos Display" panose="020B0004020202020204" pitchFamily="34" charset="0"/>
              </a:rPr>
              <a:t> </a:t>
            </a:r>
            <a:endParaRPr lang="fr-FR" sz="2400">
              <a:solidFill>
                <a:srgbClr val="17287D"/>
              </a:solidFill>
              <a:latin typeface="Open Sans Light" pitchFamily="2" charset="0"/>
              <a:ea typeface="Open Sans Light" pitchFamily="2" charset="0"/>
              <a:cs typeface="Open Sans Light" pitchFamily="2" charset="0"/>
            </a:endParaRPr>
          </a:p>
          <a:p>
            <a:pPr marL="0" indent="0">
              <a:buNone/>
            </a:pPr>
            <a:endParaRPr lang="fr-FR" sz="2400">
              <a:solidFill>
                <a:srgbClr val="17287D"/>
              </a:solidFill>
              <a:latin typeface="Open Sans Light" pitchFamily="2" charset="0"/>
              <a:ea typeface="Open Sans Light" pitchFamily="2" charset="0"/>
              <a:cs typeface="Open Sans Light" pitchFamily="2" charset="0"/>
            </a:endParaRPr>
          </a:p>
        </p:txBody>
      </p:sp>
      <p:sp>
        <p:nvSpPr>
          <p:cNvPr id="4" name="Espace réservé de la date 3">
            <a:extLst>
              <a:ext uri="{FF2B5EF4-FFF2-40B4-BE49-F238E27FC236}">
                <a16:creationId xmlns:a16="http://schemas.microsoft.com/office/drawing/2014/main" id="{B90FB047-1276-DA89-CA45-E09C8E0D6EF3}"/>
              </a:ext>
            </a:extLst>
          </p:cNvPr>
          <p:cNvSpPr>
            <a:spLocks noGrp="1"/>
          </p:cNvSpPr>
          <p:nvPr>
            <p:ph type="dt" sz="half" idx="10"/>
          </p:nvPr>
        </p:nvSpPr>
        <p:spPr/>
        <p:txBody>
          <a:bodyPr/>
          <a:lstStyle/>
          <a:p>
            <a:fld id="{94526031-CB8A-5F42-A6F0-E6F32424FB55}" type="datetime1">
              <a:rPr lang="nl-NL" sz="1000" smtClean="0">
                <a:latin typeface="Open Sans Light" pitchFamily="2" charset="0"/>
                <a:ea typeface="Open Sans Light" pitchFamily="2" charset="0"/>
                <a:cs typeface="Open Sans Light" pitchFamily="2" charset="0"/>
              </a:rPr>
              <a:t>7-7-2025</a:t>
            </a:fld>
            <a:endParaRPr lang="nl-NL" sz="1000">
              <a:latin typeface="Open Sans Light" pitchFamily="2" charset="0"/>
              <a:ea typeface="Open Sans Light" pitchFamily="2" charset="0"/>
              <a:cs typeface="Open Sans Light" pitchFamily="2" charset="0"/>
            </a:endParaRPr>
          </a:p>
        </p:txBody>
      </p:sp>
      <p:sp>
        <p:nvSpPr>
          <p:cNvPr id="5" name="Espace réservé du numéro de diapositive 4">
            <a:extLst>
              <a:ext uri="{FF2B5EF4-FFF2-40B4-BE49-F238E27FC236}">
                <a16:creationId xmlns:a16="http://schemas.microsoft.com/office/drawing/2014/main" id="{64BF1477-643A-6A43-4DE5-808A609B9A91}"/>
              </a:ext>
            </a:extLst>
          </p:cNvPr>
          <p:cNvSpPr>
            <a:spLocks noGrp="1"/>
          </p:cNvSpPr>
          <p:nvPr>
            <p:ph type="sldNum" sz="quarter" idx="12"/>
          </p:nvPr>
        </p:nvSpPr>
        <p:spPr/>
        <p:txBody>
          <a:bodyPr/>
          <a:lstStyle/>
          <a:p>
            <a:fld id="{8BBA71A0-6CC0-AB46-8BCD-539147384510}" type="slidenum">
              <a:rPr lang="nl-NL" smtClean="0">
                <a:latin typeface="Open Sans" pitchFamily="2" charset="0"/>
                <a:ea typeface="Open Sans" pitchFamily="2" charset="0"/>
                <a:cs typeface="Open Sans" pitchFamily="2" charset="0"/>
              </a:rPr>
              <a:t>4</a:t>
            </a:fld>
            <a:endParaRPr lang="nl-NL">
              <a:latin typeface="Open Sans" pitchFamily="2" charset="0"/>
              <a:ea typeface="Open Sans" pitchFamily="2" charset="0"/>
              <a:cs typeface="Open Sans" pitchFamily="2" charset="0"/>
            </a:endParaRPr>
          </a:p>
        </p:txBody>
      </p:sp>
      <p:pic>
        <p:nvPicPr>
          <p:cNvPr id="8" name="Imagen 7">
            <a:extLst>
              <a:ext uri="{FF2B5EF4-FFF2-40B4-BE49-F238E27FC236}">
                <a16:creationId xmlns:a16="http://schemas.microsoft.com/office/drawing/2014/main" id="{FDFFBDA2-0E32-C207-DDBA-C9C1210D218F}"/>
              </a:ext>
            </a:extLst>
          </p:cNvPr>
          <p:cNvPicPr>
            <a:picLocks noChangeAspect="1"/>
          </p:cNvPicPr>
          <p:nvPr/>
        </p:nvPicPr>
        <p:blipFill>
          <a:blip r:embed="rId3"/>
          <a:stretch>
            <a:fillRect/>
          </a:stretch>
        </p:blipFill>
        <p:spPr>
          <a:xfrm>
            <a:off x="4049486" y="783761"/>
            <a:ext cx="7304314" cy="5290477"/>
          </a:xfrm>
          <a:prstGeom prst="rect">
            <a:avLst/>
          </a:prstGeom>
        </p:spPr>
      </p:pic>
    </p:spTree>
    <p:extLst>
      <p:ext uri="{BB962C8B-B14F-4D97-AF65-F5344CB8AC3E}">
        <p14:creationId xmlns:p14="http://schemas.microsoft.com/office/powerpoint/2010/main" val="3998908582"/>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068C1-2439-AF17-2B5E-9B180B957977}"/>
            </a:ext>
          </a:extLst>
        </p:cNvPr>
        <p:cNvGrpSpPr/>
        <p:nvPr/>
      </p:nvGrpSpPr>
      <p:grpSpPr>
        <a:xfrm>
          <a:off x="0" y="0"/>
          <a:ext cx="0" cy="0"/>
          <a:chOff x="0" y="0"/>
          <a:chExt cx="0" cy="0"/>
        </a:xfrm>
      </p:grpSpPr>
      <p:pic>
        <p:nvPicPr>
          <p:cNvPr id="12" name="Afbeelding 5" descr="Afbeelding met geel, Graphics, logo, clipart&#10;&#10;Automatisch gegenereerde beschrijving">
            <a:extLst>
              <a:ext uri="{FF2B5EF4-FFF2-40B4-BE49-F238E27FC236}">
                <a16:creationId xmlns:a16="http://schemas.microsoft.com/office/drawing/2014/main" id="{3F8059D8-FA89-FF13-F2A3-BE3D42F1B545}"/>
              </a:ext>
            </a:extLst>
          </p:cNvPr>
          <p:cNvPicPr>
            <a:picLocks noChangeAspect="1"/>
          </p:cNvPicPr>
          <p:nvPr/>
        </p:nvPicPr>
        <p:blipFill>
          <a:blip r:embed="rId4">
            <a:extLst>
              <a:ext uri="{28A0092B-C50C-407E-A947-70E740481C1C}">
                <a14:useLocalDpi xmlns:a14="http://schemas.microsoft.com/office/drawing/2010/main" val="0"/>
              </a:ext>
            </a:extLst>
          </a:blip>
          <a:srcRect b="14500"/>
          <a:stretch/>
        </p:blipFill>
        <p:spPr>
          <a:xfrm>
            <a:off x="-3188" y="0"/>
            <a:ext cx="12195188" cy="5863590"/>
          </a:xfrm>
          <a:prstGeom prst="rect">
            <a:avLst/>
          </a:prstGeom>
        </p:spPr>
      </p:pic>
      <p:sp>
        <p:nvSpPr>
          <p:cNvPr id="4" name="Espace réservé de la date 3">
            <a:extLst>
              <a:ext uri="{FF2B5EF4-FFF2-40B4-BE49-F238E27FC236}">
                <a16:creationId xmlns:a16="http://schemas.microsoft.com/office/drawing/2014/main" id="{F8A84FDB-1685-0B4B-1995-C7BB86077D45}"/>
              </a:ext>
            </a:extLst>
          </p:cNvPr>
          <p:cNvSpPr>
            <a:spLocks noGrp="1"/>
          </p:cNvSpPr>
          <p:nvPr>
            <p:ph type="dt" sz="half" idx="10"/>
          </p:nvPr>
        </p:nvSpPr>
        <p:spPr/>
        <p:txBody>
          <a:bodyPr/>
          <a:lstStyle/>
          <a:p>
            <a:fld id="{94526031-CB8A-5F42-A6F0-E6F32424FB55}" type="datetime1">
              <a:rPr lang="nl-NL" sz="1000" smtClean="0">
                <a:latin typeface="Open Sans Light" pitchFamily="2" charset="0"/>
                <a:ea typeface="Open Sans Light" pitchFamily="2" charset="0"/>
                <a:cs typeface="Open Sans Light" pitchFamily="2" charset="0"/>
              </a:rPr>
              <a:t>7-7-2025</a:t>
            </a:fld>
            <a:endParaRPr lang="nl-NL" sz="1000">
              <a:latin typeface="Open Sans Light" pitchFamily="2" charset="0"/>
              <a:ea typeface="Open Sans Light" pitchFamily="2" charset="0"/>
              <a:cs typeface="Open Sans Light" pitchFamily="2" charset="0"/>
            </a:endParaRPr>
          </a:p>
        </p:txBody>
      </p:sp>
      <p:sp>
        <p:nvSpPr>
          <p:cNvPr id="5" name="Espace réservé du numéro de diapositive 4">
            <a:extLst>
              <a:ext uri="{FF2B5EF4-FFF2-40B4-BE49-F238E27FC236}">
                <a16:creationId xmlns:a16="http://schemas.microsoft.com/office/drawing/2014/main" id="{2E4A2C2E-8C03-2A01-F876-7484C373DB04}"/>
              </a:ext>
            </a:extLst>
          </p:cNvPr>
          <p:cNvSpPr>
            <a:spLocks noGrp="1"/>
          </p:cNvSpPr>
          <p:nvPr>
            <p:ph type="sldNum" sz="quarter" idx="12"/>
          </p:nvPr>
        </p:nvSpPr>
        <p:spPr/>
        <p:txBody>
          <a:bodyPr/>
          <a:lstStyle/>
          <a:p>
            <a:fld id="{8BBA71A0-6CC0-AB46-8BCD-539147384510}" type="slidenum">
              <a:rPr lang="nl-NL" smtClean="0">
                <a:latin typeface="Open Sans" pitchFamily="2" charset="0"/>
                <a:ea typeface="Open Sans" pitchFamily="2" charset="0"/>
                <a:cs typeface="Open Sans" pitchFamily="2" charset="0"/>
              </a:rPr>
              <a:t>5</a:t>
            </a:fld>
            <a:endParaRPr lang="nl-NL">
              <a:latin typeface="Open Sans" pitchFamily="2" charset="0"/>
              <a:ea typeface="Open Sans" pitchFamily="2" charset="0"/>
              <a:cs typeface="Open Sans" pitchFamily="2" charset="0"/>
            </a:endParaRPr>
          </a:p>
        </p:txBody>
      </p:sp>
      <p:sp>
        <p:nvSpPr>
          <p:cNvPr id="9" name="Espace réservé du contenu 2">
            <a:extLst>
              <a:ext uri="{FF2B5EF4-FFF2-40B4-BE49-F238E27FC236}">
                <a16:creationId xmlns:a16="http://schemas.microsoft.com/office/drawing/2014/main" id="{59F9B1F9-6147-9841-DDDB-086CE0EA1416}"/>
              </a:ext>
            </a:extLst>
          </p:cNvPr>
          <p:cNvSpPr txBox="1">
            <a:spLocks/>
          </p:cNvSpPr>
          <p:nvPr/>
        </p:nvSpPr>
        <p:spPr>
          <a:xfrm>
            <a:off x="838200" y="3105785"/>
            <a:ext cx="54442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F2C301"/>
              </a:buClr>
              <a:buFont typeface="Arial" panose="020B0604020202020204" pitchFamily="34" charset="0"/>
              <a:buNone/>
            </a:pPr>
            <a:endParaRPr lang="en-US" sz="5000" b="1">
              <a:solidFill>
                <a:srgbClr val="F2C301"/>
              </a:solidFill>
              <a:latin typeface="Open Sans Light" pitchFamily="2" charset="0"/>
              <a:ea typeface="Open Sans Light" pitchFamily="2" charset="0"/>
              <a:cs typeface="Open Sans Light" pitchFamily="2" charset="0"/>
            </a:endParaRPr>
          </a:p>
          <a:p>
            <a:pPr marL="0" indent="0">
              <a:buClr>
                <a:srgbClr val="F2C301"/>
              </a:buClr>
              <a:buFont typeface="Arial" panose="020B0604020202020204" pitchFamily="34" charset="0"/>
              <a:buNone/>
            </a:pPr>
            <a:r>
              <a:rPr lang="en-US" sz="5000" b="1">
                <a:solidFill>
                  <a:srgbClr val="F2C301"/>
                </a:solidFill>
                <a:latin typeface="Open Sans Light" pitchFamily="2" charset="0"/>
                <a:ea typeface="Open Sans Light" pitchFamily="2" charset="0"/>
                <a:cs typeface="Open Sans Light" pitchFamily="2" charset="0"/>
              </a:rPr>
              <a:t> </a:t>
            </a:r>
            <a:endParaRPr lang="fr-FR" sz="5000">
              <a:solidFill>
                <a:srgbClr val="17287D"/>
              </a:solidFill>
              <a:latin typeface="Open Sans Light" pitchFamily="2" charset="0"/>
              <a:ea typeface="Open Sans Light" pitchFamily="2" charset="0"/>
              <a:cs typeface="Open Sans Light" pitchFamily="2" charset="0"/>
            </a:endParaRPr>
          </a:p>
        </p:txBody>
      </p:sp>
      <p:sp>
        <p:nvSpPr>
          <p:cNvPr id="13" name="object 4">
            <a:extLst>
              <a:ext uri="{FF2B5EF4-FFF2-40B4-BE49-F238E27FC236}">
                <a16:creationId xmlns:a16="http://schemas.microsoft.com/office/drawing/2014/main" id="{0C95B1CC-9618-9A31-6676-0FA174C80705}"/>
              </a:ext>
            </a:extLst>
          </p:cNvPr>
          <p:cNvSpPr txBox="1"/>
          <p:nvPr/>
        </p:nvSpPr>
        <p:spPr>
          <a:xfrm>
            <a:off x="1623061" y="3429000"/>
            <a:ext cx="10800818" cy="966931"/>
          </a:xfrm>
          <a:prstGeom prst="rect">
            <a:avLst/>
          </a:prstGeom>
        </p:spPr>
        <p:txBody>
          <a:bodyPr vert="horz" wrap="square" lIns="0" tIns="12700" rIns="0" bIns="0" rtlCol="0" anchor="t">
            <a:spAutoFit/>
          </a:bodyPr>
          <a:lstStyle/>
          <a:p>
            <a:pPr>
              <a:tabLst>
                <a:tab pos="2246630" algn="l"/>
                <a:tab pos="3862070" algn="l"/>
              </a:tabLst>
            </a:pPr>
            <a:r>
              <a:rPr lang="es-MX" sz="5000" b="1" spc="-20">
                <a:solidFill>
                  <a:schemeClr val="tx2"/>
                </a:solidFill>
                <a:latin typeface="Space Mono" panose="02000509040000020004" pitchFamily="49" charset="77"/>
                <a:ea typeface="Verdana"/>
                <a:cs typeface="Calibri"/>
              </a:rPr>
              <a:t>PRELIMINARY CONCLUSIONS </a:t>
            </a:r>
            <a:endParaRPr lang="fr-FR" sz="5000" b="1">
              <a:solidFill>
                <a:schemeClr val="tx2"/>
              </a:solidFill>
              <a:latin typeface="Space Mono" panose="02000509040000020004" pitchFamily="49" charset="77"/>
              <a:ea typeface="Verdana"/>
              <a:cs typeface="Calibri"/>
            </a:endParaRPr>
          </a:p>
          <a:p>
            <a:pPr>
              <a:tabLst>
                <a:tab pos="2246630" algn="l"/>
                <a:tab pos="3862070" algn="l"/>
              </a:tabLst>
            </a:pPr>
            <a:endParaRPr lang="fr-FR" sz="1200">
              <a:latin typeface="Open Sans Medium" pitchFamily="2" charset="0"/>
              <a:ea typeface="Open Sans Medium" pitchFamily="2" charset="0"/>
              <a:cs typeface="Open Sans Medium" pitchFamily="2" charset="0"/>
            </a:endParaRPr>
          </a:p>
        </p:txBody>
      </p:sp>
    </p:spTree>
    <p:extLst>
      <p:ext uri="{BB962C8B-B14F-4D97-AF65-F5344CB8AC3E}">
        <p14:creationId xmlns:p14="http://schemas.microsoft.com/office/powerpoint/2010/main" val="422789227"/>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EBD65-3003-9C85-16B7-3933D4B0EADB}"/>
              </a:ext>
            </a:extLst>
          </p:cNvPr>
          <p:cNvSpPr>
            <a:spLocks noGrp="1"/>
          </p:cNvSpPr>
          <p:nvPr>
            <p:ph type="title"/>
          </p:nvPr>
        </p:nvSpPr>
        <p:spPr/>
        <p:txBody>
          <a:bodyPr>
            <a:normAutofit/>
          </a:bodyPr>
          <a:lstStyle/>
          <a:p>
            <a:r>
              <a:rPr lang="fr-FR" sz="3600" b="1">
                <a:solidFill>
                  <a:srgbClr val="17287D"/>
                </a:solidFill>
                <a:latin typeface="Space Mono" panose="02000509040000020004" pitchFamily="49" charset="77"/>
              </a:rPr>
              <a:t>HEALTH SYSTEM</a:t>
            </a:r>
          </a:p>
        </p:txBody>
      </p:sp>
      <p:sp>
        <p:nvSpPr>
          <p:cNvPr id="3" name="Espace réservé du contenu 2">
            <a:extLst>
              <a:ext uri="{FF2B5EF4-FFF2-40B4-BE49-F238E27FC236}">
                <a16:creationId xmlns:a16="http://schemas.microsoft.com/office/drawing/2014/main" id="{D7E49828-EABD-5D37-6D35-F65CC3B5691A}"/>
              </a:ext>
            </a:extLst>
          </p:cNvPr>
          <p:cNvSpPr>
            <a:spLocks noGrp="1"/>
          </p:cNvSpPr>
          <p:nvPr>
            <p:ph idx="1"/>
          </p:nvPr>
        </p:nvSpPr>
        <p:spPr>
          <a:xfrm>
            <a:off x="5286039" y="1797497"/>
            <a:ext cx="6283361" cy="4820473"/>
          </a:xfrm>
        </p:spPr>
        <p:txBody>
          <a:bodyPr vert="horz" lIns="91440" tIns="45720" rIns="91440" bIns="45720" rtlCol="0" anchor="t">
            <a:normAutofit/>
          </a:bodyPr>
          <a:lstStyle/>
          <a:p>
            <a:pPr>
              <a:buClr>
                <a:srgbClr val="F2C301"/>
              </a:buClr>
            </a:pPr>
            <a:r>
              <a:rPr lang="en-US" sz="2400">
                <a:solidFill>
                  <a:srgbClr val="17287D"/>
                </a:solidFill>
                <a:latin typeface="Open Sans Light"/>
                <a:ea typeface="Open Sans Light"/>
                <a:cs typeface="Open Sans Light"/>
              </a:rPr>
              <a:t>Despite </a:t>
            </a:r>
            <a:r>
              <a:rPr lang="en-US" sz="2400" dirty="0">
                <a:solidFill>
                  <a:srgbClr val="17287D"/>
                </a:solidFill>
                <a:latin typeface="Open Sans Light"/>
                <a:ea typeface="Open Sans Light"/>
                <a:cs typeface="Open Sans Light"/>
              </a:rPr>
              <a:t>efforts in promotion vaccines, yet </a:t>
            </a:r>
            <a:r>
              <a:rPr lang="en-US" sz="2400" b="1" dirty="0">
                <a:solidFill>
                  <a:srgbClr val="F2C301"/>
                </a:solidFill>
                <a:latin typeface="Open Sans Light"/>
                <a:ea typeface="Open Sans Light"/>
                <a:cs typeface="Open Sans Light"/>
              </a:rPr>
              <a:t>access barriers persist.</a:t>
            </a:r>
          </a:p>
          <a:p>
            <a:pPr>
              <a:buClr>
                <a:srgbClr val="F2C301"/>
              </a:buClr>
            </a:pPr>
            <a:r>
              <a:rPr lang="en-US" sz="2400" b="1" dirty="0">
                <a:solidFill>
                  <a:srgbClr val="F2C301"/>
                </a:solidFill>
                <a:latin typeface="Open Sans Light"/>
                <a:ea typeface="Open Sans Light"/>
                <a:cs typeface="Open Sans Light"/>
              </a:rPr>
              <a:t>Fear</a:t>
            </a:r>
            <a:r>
              <a:rPr lang="en-US" sz="2400" dirty="0">
                <a:solidFill>
                  <a:srgbClr val="17287D"/>
                </a:solidFill>
                <a:latin typeface="Open Sans Light"/>
                <a:ea typeface="Open Sans Light"/>
                <a:cs typeface="Open Sans Light"/>
              </a:rPr>
              <a:t> appears to be a </a:t>
            </a:r>
            <a:r>
              <a:rPr lang="en-US" sz="2400" b="1" dirty="0">
                <a:solidFill>
                  <a:srgbClr val="F2C301"/>
                </a:solidFill>
                <a:latin typeface="Open Sans Light"/>
                <a:ea typeface="Open Sans Light"/>
                <a:cs typeface="Open Sans Light"/>
              </a:rPr>
              <a:t>distinctive feature</a:t>
            </a:r>
            <a:r>
              <a:rPr lang="en-US" sz="2400" dirty="0">
                <a:solidFill>
                  <a:srgbClr val="17287D"/>
                </a:solidFill>
                <a:latin typeface="Open Sans Light"/>
                <a:ea typeface="Open Sans Light"/>
                <a:cs typeface="Open Sans Light"/>
              </a:rPr>
              <a:t> in Colombian vaccination policies.</a:t>
            </a:r>
          </a:p>
          <a:p>
            <a:pPr>
              <a:buClr>
                <a:srgbClr val="F2C301"/>
              </a:buClr>
            </a:pPr>
            <a:r>
              <a:rPr lang="en-US" sz="2400" b="1" dirty="0">
                <a:solidFill>
                  <a:srgbClr val="F2C301"/>
                </a:solidFill>
                <a:latin typeface="Open Sans Light" pitchFamily="2" charset="0"/>
                <a:ea typeface="Open Sans Light" pitchFamily="2" charset="0"/>
                <a:cs typeface="Open Sans Light" pitchFamily="2" charset="0"/>
              </a:rPr>
              <a:t>Mandatory and coercive </a:t>
            </a:r>
            <a:r>
              <a:rPr lang="en-US" sz="2400" dirty="0">
                <a:solidFill>
                  <a:srgbClr val="17287D"/>
                </a:solidFill>
                <a:latin typeface="Open Sans Light" pitchFamily="2" charset="0"/>
                <a:ea typeface="Open Sans Light" pitchFamily="2" charset="0"/>
                <a:cs typeface="Open Sans Light" pitchFamily="2" charset="0"/>
              </a:rPr>
              <a:t>approaches, especially during COVID-19, caused public </a:t>
            </a:r>
            <a:r>
              <a:rPr lang="en-US" sz="2400" b="1" dirty="0">
                <a:solidFill>
                  <a:srgbClr val="F2C301"/>
                </a:solidFill>
                <a:latin typeface="Open Sans Light" pitchFamily="2" charset="0"/>
                <a:ea typeface="Open Sans Light" pitchFamily="2" charset="0"/>
                <a:cs typeface="Open Sans Light" pitchFamily="2" charset="0"/>
              </a:rPr>
              <a:t>discomfort</a:t>
            </a:r>
            <a:r>
              <a:rPr lang="en-US" sz="2400" dirty="0">
                <a:solidFill>
                  <a:srgbClr val="17287D"/>
                </a:solidFill>
                <a:latin typeface="Open Sans Light" pitchFamily="2" charset="0"/>
                <a:ea typeface="Open Sans Light" pitchFamily="2" charset="0"/>
                <a:cs typeface="Open Sans Light" pitchFamily="2" charset="0"/>
              </a:rPr>
              <a:t>.</a:t>
            </a:r>
          </a:p>
          <a:p>
            <a:pPr>
              <a:buClr>
                <a:srgbClr val="F2C301"/>
              </a:buClr>
            </a:pPr>
            <a:r>
              <a:rPr lang="en-US" sz="2400" dirty="0">
                <a:solidFill>
                  <a:srgbClr val="17287D"/>
                </a:solidFill>
                <a:latin typeface="Open Sans Light"/>
                <a:ea typeface="Open Sans Light"/>
                <a:cs typeface="Open Sans Light"/>
              </a:rPr>
              <a:t>There’s a need to improve vaccine promotion through </a:t>
            </a:r>
            <a:r>
              <a:rPr lang="en-US" sz="2400" b="1" dirty="0">
                <a:solidFill>
                  <a:srgbClr val="F2C301"/>
                </a:solidFill>
                <a:latin typeface="Open Sans Light"/>
                <a:ea typeface="Open Sans Light"/>
                <a:cs typeface="Open Sans Light"/>
              </a:rPr>
              <a:t>better</a:t>
            </a:r>
            <a:r>
              <a:rPr lang="en-US" sz="2400" dirty="0">
                <a:solidFill>
                  <a:srgbClr val="17287D"/>
                </a:solidFill>
                <a:latin typeface="Open Sans Light"/>
                <a:ea typeface="Open Sans Light"/>
                <a:cs typeface="Open Sans Light"/>
              </a:rPr>
              <a:t> </a:t>
            </a:r>
            <a:r>
              <a:rPr lang="en-US" sz="2400" b="1" dirty="0">
                <a:solidFill>
                  <a:srgbClr val="F2C301"/>
                </a:solidFill>
                <a:latin typeface="Open Sans Light"/>
                <a:ea typeface="Open Sans Light"/>
                <a:cs typeface="Open Sans Light"/>
              </a:rPr>
              <a:t>education and communication strategies</a:t>
            </a:r>
            <a:r>
              <a:rPr lang="en-US" sz="2400" dirty="0">
                <a:solidFill>
                  <a:srgbClr val="17287D"/>
                </a:solidFill>
                <a:latin typeface="Open Sans Light"/>
                <a:ea typeface="Open Sans Light"/>
                <a:cs typeface="Open Sans Light"/>
              </a:rPr>
              <a:t>.</a:t>
            </a:r>
          </a:p>
          <a:p>
            <a:pPr>
              <a:buClr>
                <a:srgbClr val="F2C301"/>
              </a:buClr>
            </a:pPr>
            <a:endParaRPr lang="fr-FR" sz="2400" dirty="0">
              <a:solidFill>
                <a:srgbClr val="17287D"/>
              </a:solidFill>
              <a:latin typeface="Open Sans Light" pitchFamily="2" charset="0"/>
              <a:ea typeface="Open Sans Light" pitchFamily="2" charset="0"/>
              <a:cs typeface="Open Sans Light" pitchFamily="2" charset="0"/>
            </a:endParaRPr>
          </a:p>
        </p:txBody>
      </p:sp>
      <p:sp>
        <p:nvSpPr>
          <p:cNvPr id="4" name="Espace réservé de la date 3">
            <a:extLst>
              <a:ext uri="{FF2B5EF4-FFF2-40B4-BE49-F238E27FC236}">
                <a16:creationId xmlns:a16="http://schemas.microsoft.com/office/drawing/2014/main" id="{B90FB047-1276-DA89-CA45-E09C8E0D6EF3}"/>
              </a:ext>
            </a:extLst>
          </p:cNvPr>
          <p:cNvSpPr>
            <a:spLocks noGrp="1"/>
          </p:cNvSpPr>
          <p:nvPr>
            <p:ph type="dt" sz="half" idx="10"/>
          </p:nvPr>
        </p:nvSpPr>
        <p:spPr/>
        <p:txBody>
          <a:bodyPr/>
          <a:lstStyle/>
          <a:p>
            <a:fld id="{94526031-CB8A-5F42-A6F0-E6F32424FB55}" type="datetime1">
              <a:rPr lang="nl-NL" sz="1000" smtClean="0">
                <a:latin typeface="Open Sans Light" pitchFamily="2" charset="0"/>
                <a:ea typeface="Open Sans Light" pitchFamily="2" charset="0"/>
                <a:cs typeface="Open Sans Light" pitchFamily="2" charset="0"/>
              </a:rPr>
              <a:t>7-7-2025</a:t>
            </a:fld>
            <a:endParaRPr lang="nl-NL" sz="1000">
              <a:latin typeface="Open Sans Light" pitchFamily="2" charset="0"/>
              <a:ea typeface="Open Sans Light" pitchFamily="2" charset="0"/>
              <a:cs typeface="Open Sans Light" pitchFamily="2" charset="0"/>
            </a:endParaRPr>
          </a:p>
        </p:txBody>
      </p:sp>
      <p:sp>
        <p:nvSpPr>
          <p:cNvPr id="5" name="Espace réservé du numéro de diapositive 4">
            <a:extLst>
              <a:ext uri="{FF2B5EF4-FFF2-40B4-BE49-F238E27FC236}">
                <a16:creationId xmlns:a16="http://schemas.microsoft.com/office/drawing/2014/main" id="{64BF1477-643A-6A43-4DE5-808A609B9A91}"/>
              </a:ext>
            </a:extLst>
          </p:cNvPr>
          <p:cNvSpPr>
            <a:spLocks noGrp="1"/>
          </p:cNvSpPr>
          <p:nvPr>
            <p:ph type="sldNum" sz="quarter" idx="12"/>
          </p:nvPr>
        </p:nvSpPr>
        <p:spPr/>
        <p:txBody>
          <a:bodyPr/>
          <a:lstStyle/>
          <a:p>
            <a:fld id="{8BBA71A0-6CC0-AB46-8BCD-539147384510}" type="slidenum">
              <a:rPr lang="nl-NL" smtClean="0">
                <a:latin typeface="Open Sans" pitchFamily="2" charset="0"/>
                <a:ea typeface="Open Sans" pitchFamily="2" charset="0"/>
                <a:cs typeface="Open Sans" pitchFamily="2" charset="0"/>
              </a:rPr>
              <a:t>6</a:t>
            </a:fld>
            <a:endParaRPr lang="nl-NL">
              <a:latin typeface="Open Sans" pitchFamily="2" charset="0"/>
              <a:ea typeface="Open Sans" pitchFamily="2" charset="0"/>
              <a:cs typeface="Open Sans" pitchFamily="2" charset="0"/>
            </a:endParaRPr>
          </a:p>
        </p:txBody>
      </p:sp>
      <p:sp>
        <p:nvSpPr>
          <p:cNvPr id="9" name="Espace réservé du contenu 2">
            <a:extLst>
              <a:ext uri="{FF2B5EF4-FFF2-40B4-BE49-F238E27FC236}">
                <a16:creationId xmlns:a16="http://schemas.microsoft.com/office/drawing/2014/main" id="{D7E49828-EABD-5D37-6D35-F65CC3B5691A}"/>
              </a:ext>
            </a:extLst>
          </p:cNvPr>
          <p:cNvSpPr txBox="1">
            <a:spLocks/>
          </p:cNvSpPr>
          <p:nvPr/>
        </p:nvSpPr>
        <p:spPr>
          <a:xfrm>
            <a:off x="838200" y="3105785"/>
            <a:ext cx="54442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F2C301"/>
              </a:buClr>
              <a:buFont typeface="Arial" panose="020B0604020202020204" pitchFamily="34" charset="0"/>
              <a:buNone/>
            </a:pPr>
            <a:endParaRPr lang="en-US" sz="5000" b="1">
              <a:solidFill>
                <a:srgbClr val="F2C301"/>
              </a:solidFill>
              <a:latin typeface="Open Sans Light" pitchFamily="2" charset="0"/>
              <a:ea typeface="Open Sans Light" pitchFamily="2" charset="0"/>
              <a:cs typeface="Open Sans Light" pitchFamily="2" charset="0"/>
            </a:endParaRPr>
          </a:p>
          <a:p>
            <a:pPr marL="0" indent="0">
              <a:buClr>
                <a:srgbClr val="F2C301"/>
              </a:buClr>
              <a:buFont typeface="Arial" panose="020B0604020202020204" pitchFamily="34" charset="0"/>
              <a:buNone/>
            </a:pPr>
            <a:r>
              <a:rPr lang="en-US" sz="5000" b="1">
                <a:solidFill>
                  <a:srgbClr val="F2C301"/>
                </a:solidFill>
                <a:latin typeface="Open Sans Light" pitchFamily="2" charset="0"/>
                <a:ea typeface="Open Sans Light" pitchFamily="2" charset="0"/>
                <a:cs typeface="Open Sans Light" pitchFamily="2" charset="0"/>
              </a:rPr>
              <a:t> </a:t>
            </a:r>
            <a:endParaRPr lang="fr-FR" sz="5000">
              <a:solidFill>
                <a:srgbClr val="17287D"/>
              </a:solidFill>
              <a:latin typeface="Open Sans Light" pitchFamily="2" charset="0"/>
              <a:ea typeface="Open Sans Light" pitchFamily="2" charset="0"/>
              <a:cs typeface="Open Sans Light" pitchFamily="2" charset="0"/>
            </a:endParaRPr>
          </a:p>
        </p:txBody>
      </p:sp>
      <p:pic>
        <p:nvPicPr>
          <p:cNvPr id="10" name="Image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7341" y="2083769"/>
            <a:ext cx="2857484" cy="2857484"/>
          </a:xfrm>
          <a:prstGeom prst="rect">
            <a:avLst/>
          </a:prstGeom>
        </p:spPr>
      </p:pic>
    </p:spTree>
    <p:extLst>
      <p:ext uri="{BB962C8B-B14F-4D97-AF65-F5344CB8AC3E}">
        <p14:creationId xmlns:p14="http://schemas.microsoft.com/office/powerpoint/2010/main" val="3929025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EBD65-3003-9C85-16B7-3933D4B0EADB}"/>
              </a:ext>
            </a:extLst>
          </p:cNvPr>
          <p:cNvSpPr>
            <a:spLocks noGrp="1"/>
          </p:cNvSpPr>
          <p:nvPr>
            <p:ph type="title"/>
          </p:nvPr>
        </p:nvSpPr>
        <p:spPr/>
        <p:txBody>
          <a:bodyPr>
            <a:normAutofit/>
          </a:bodyPr>
          <a:lstStyle/>
          <a:p>
            <a:r>
              <a:rPr lang="fr-FR" sz="3600" b="1">
                <a:solidFill>
                  <a:srgbClr val="17287D"/>
                </a:solidFill>
                <a:latin typeface="Space Mono" panose="02000509040000020004" pitchFamily="49" charset="77"/>
              </a:rPr>
              <a:t>PERCEPTIONS</a:t>
            </a:r>
          </a:p>
        </p:txBody>
      </p:sp>
      <p:sp>
        <p:nvSpPr>
          <p:cNvPr id="4" name="Espace réservé de la date 3">
            <a:extLst>
              <a:ext uri="{FF2B5EF4-FFF2-40B4-BE49-F238E27FC236}">
                <a16:creationId xmlns:a16="http://schemas.microsoft.com/office/drawing/2014/main" id="{B90FB047-1276-DA89-CA45-E09C8E0D6EF3}"/>
              </a:ext>
            </a:extLst>
          </p:cNvPr>
          <p:cNvSpPr>
            <a:spLocks noGrp="1"/>
          </p:cNvSpPr>
          <p:nvPr>
            <p:ph type="dt" sz="half" idx="10"/>
          </p:nvPr>
        </p:nvSpPr>
        <p:spPr/>
        <p:txBody>
          <a:bodyPr/>
          <a:lstStyle/>
          <a:p>
            <a:fld id="{94526031-CB8A-5F42-A6F0-E6F32424FB55}" type="datetime1">
              <a:rPr lang="nl-NL" sz="1000" smtClean="0">
                <a:latin typeface="Open Sans Light" pitchFamily="2" charset="0"/>
                <a:ea typeface="Open Sans Light" pitchFamily="2" charset="0"/>
                <a:cs typeface="Open Sans Light" pitchFamily="2" charset="0"/>
              </a:rPr>
              <a:t>7-7-2025</a:t>
            </a:fld>
            <a:endParaRPr lang="nl-NL" sz="1000">
              <a:latin typeface="Open Sans Light" pitchFamily="2" charset="0"/>
              <a:ea typeface="Open Sans Light" pitchFamily="2" charset="0"/>
              <a:cs typeface="Open Sans Light" pitchFamily="2" charset="0"/>
            </a:endParaRPr>
          </a:p>
        </p:txBody>
      </p:sp>
      <p:sp>
        <p:nvSpPr>
          <p:cNvPr id="5" name="Espace réservé du numéro de diapositive 4">
            <a:extLst>
              <a:ext uri="{FF2B5EF4-FFF2-40B4-BE49-F238E27FC236}">
                <a16:creationId xmlns:a16="http://schemas.microsoft.com/office/drawing/2014/main" id="{64BF1477-643A-6A43-4DE5-808A609B9A91}"/>
              </a:ext>
            </a:extLst>
          </p:cNvPr>
          <p:cNvSpPr>
            <a:spLocks noGrp="1"/>
          </p:cNvSpPr>
          <p:nvPr>
            <p:ph type="sldNum" sz="quarter" idx="12"/>
          </p:nvPr>
        </p:nvSpPr>
        <p:spPr/>
        <p:txBody>
          <a:bodyPr/>
          <a:lstStyle/>
          <a:p>
            <a:fld id="{8BBA71A0-6CC0-AB46-8BCD-539147384510}" type="slidenum">
              <a:rPr lang="nl-NL" smtClean="0">
                <a:latin typeface="Open Sans" pitchFamily="2" charset="0"/>
                <a:ea typeface="Open Sans" pitchFamily="2" charset="0"/>
                <a:cs typeface="Open Sans" pitchFamily="2" charset="0"/>
              </a:rPr>
              <a:t>7</a:t>
            </a:fld>
            <a:endParaRPr lang="nl-NL">
              <a:latin typeface="Open Sans" pitchFamily="2" charset="0"/>
              <a:ea typeface="Open Sans" pitchFamily="2" charset="0"/>
              <a:cs typeface="Open Sans" pitchFamily="2" charset="0"/>
            </a:endParaRPr>
          </a:p>
        </p:txBody>
      </p:sp>
      <p:sp>
        <p:nvSpPr>
          <p:cNvPr id="7" name="Espace réservé du contenu 2">
            <a:extLst>
              <a:ext uri="{FF2B5EF4-FFF2-40B4-BE49-F238E27FC236}">
                <a16:creationId xmlns:a16="http://schemas.microsoft.com/office/drawing/2014/main" id="{D7E49828-EABD-5D37-6D35-F65CC3B5691A}"/>
              </a:ext>
            </a:extLst>
          </p:cNvPr>
          <p:cNvSpPr txBox="1">
            <a:spLocks/>
          </p:cNvSpPr>
          <p:nvPr/>
        </p:nvSpPr>
        <p:spPr>
          <a:xfrm>
            <a:off x="5270576" y="1690688"/>
            <a:ext cx="6454588" cy="527995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2C301"/>
              </a:buClr>
            </a:pPr>
            <a:r>
              <a:rPr lang="en-US" sz="2400">
                <a:solidFill>
                  <a:srgbClr val="17287D"/>
                </a:solidFill>
                <a:latin typeface="Open Sans Light"/>
                <a:ea typeface="Open Sans Light"/>
                <a:cs typeface="Open Sans Light"/>
              </a:rPr>
              <a:t>Participants  recognize vaccines’ </a:t>
            </a:r>
            <a:r>
              <a:rPr lang="en-US" sz="2400" b="1">
                <a:solidFill>
                  <a:srgbClr val="F2C301"/>
                </a:solidFill>
                <a:latin typeface="Open Sans Light"/>
                <a:ea typeface="Open Sans Light"/>
                <a:cs typeface="Open Sans Light"/>
              </a:rPr>
              <a:t>benefits</a:t>
            </a:r>
            <a:r>
              <a:rPr lang="en-US" sz="2400">
                <a:solidFill>
                  <a:srgbClr val="17287D"/>
                </a:solidFill>
                <a:latin typeface="Open Sans Light"/>
                <a:ea typeface="Open Sans Light"/>
                <a:cs typeface="Open Sans Light"/>
              </a:rPr>
              <a:t>, especially for </a:t>
            </a:r>
            <a:r>
              <a:rPr lang="en-US" sz="2400" b="1">
                <a:solidFill>
                  <a:srgbClr val="F2C301"/>
                </a:solidFill>
                <a:latin typeface="Open Sans Light"/>
                <a:ea typeface="Open Sans Light"/>
                <a:cs typeface="Open Sans Light"/>
              </a:rPr>
              <a:t>childhood protection</a:t>
            </a:r>
            <a:r>
              <a:rPr lang="en-US" sz="2400">
                <a:solidFill>
                  <a:srgbClr val="17287D"/>
                </a:solidFill>
                <a:latin typeface="Open Sans Light"/>
                <a:ea typeface="Open Sans Light"/>
                <a:cs typeface="Open Sans Light"/>
              </a:rPr>
              <a:t>.</a:t>
            </a:r>
          </a:p>
          <a:p>
            <a:pPr>
              <a:buClr>
                <a:srgbClr val="F2C301"/>
              </a:buClr>
            </a:pPr>
            <a:r>
              <a:rPr lang="en-US" sz="2400" b="1">
                <a:solidFill>
                  <a:srgbClr val="F2C301"/>
                </a:solidFill>
                <a:latin typeface="Open Sans Light"/>
                <a:ea typeface="Open Sans Light"/>
                <a:cs typeface="Open Sans Light"/>
              </a:rPr>
              <a:t>Risk perception </a:t>
            </a:r>
            <a:r>
              <a:rPr lang="en-US" sz="2400">
                <a:solidFill>
                  <a:srgbClr val="17287D"/>
                </a:solidFill>
                <a:latin typeface="Open Sans Light"/>
                <a:ea typeface="Open Sans Light"/>
                <a:cs typeface="Open Sans Light"/>
              </a:rPr>
              <a:t>about side effects vaccine is the main influencer in decision making. It is linked to:</a:t>
            </a:r>
          </a:p>
          <a:p>
            <a:pPr>
              <a:buClr>
                <a:srgbClr val="F2C301"/>
              </a:buClr>
            </a:pPr>
            <a:r>
              <a:rPr lang="en-US" sz="2400" b="1">
                <a:solidFill>
                  <a:srgbClr val="F2C301"/>
                </a:solidFill>
                <a:latin typeface="Open Sans Light"/>
                <a:ea typeface="Open Sans Light"/>
                <a:cs typeface="Open Sans Light"/>
              </a:rPr>
              <a:t>Limited vaccine knowledge </a:t>
            </a:r>
            <a:r>
              <a:rPr lang="en-US" sz="2400">
                <a:solidFill>
                  <a:srgbClr val="17287D"/>
                </a:solidFill>
                <a:latin typeface="Open Sans Light"/>
                <a:ea typeface="Open Sans Light"/>
                <a:cs typeface="Open Sans Light"/>
              </a:rPr>
              <a:t>and </a:t>
            </a:r>
            <a:r>
              <a:rPr lang="en-US" sz="2400" b="1">
                <a:solidFill>
                  <a:srgbClr val="F2C301"/>
                </a:solidFill>
                <a:latin typeface="Open Sans Light"/>
                <a:ea typeface="Open Sans Light"/>
                <a:cs typeface="Open Sans Light"/>
              </a:rPr>
              <a:t>high information needs</a:t>
            </a:r>
            <a:r>
              <a:rPr lang="en-US" sz="2400">
                <a:solidFill>
                  <a:srgbClr val="17287D"/>
                </a:solidFill>
                <a:latin typeface="Open Sans Light"/>
                <a:ea typeface="Open Sans Light"/>
                <a:cs typeface="Open Sans Light"/>
              </a:rPr>
              <a:t>.</a:t>
            </a:r>
          </a:p>
          <a:p>
            <a:pPr>
              <a:buClr>
                <a:srgbClr val="F2C301"/>
              </a:buClr>
            </a:pPr>
            <a:r>
              <a:rPr lang="en-US" sz="2400">
                <a:solidFill>
                  <a:srgbClr val="002060"/>
                </a:solidFill>
                <a:latin typeface="Open Sans Light"/>
                <a:ea typeface="Open Sans Light"/>
                <a:cs typeface="Open Sans Light"/>
              </a:rPr>
              <a:t>There are different</a:t>
            </a:r>
            <a:r>
              <a:rPr lang="en-US" sz="2400" b="1">
                <a:solidFill>
                  <a:srgbClr val="F2C301"/>
                </a:solidFill>
                <a:latin typeface="Open Sans Light"/>
                <a:ea typeface="Open Sans Light"/>
                <a:cs typeface="Open Sans Light"/>
              </a:rPr>
              <a:t> key influencers.</a:t>
            </a:r>
          </a:p>
          <a:p>
            <a:pPr>
              <a:buClr>
                <a:srgbClr val="F2C301"/>
              </a:buClr>
            </a:pPr>
            <a:r>
              <a:rPr lang="en-US" sz="2400" b="1">
                <a:solidFill>
                  <a:srgbClr val="F2C301"/>
                </a:solidFill>
                <a:latin typeface="Open Sans Light"/>
                <a:ea typeface="Open Sans Light"/>
                <a:cs typeface="Open Sans Light"/>
              </a:rPr>
              <a:t>Drive feelings</a:t>
            </a:r>
            <a:r>
              <a:rPr lang="en-US" sz="2400">
                <a:solidFill>
                  <a:srgbClr val="17287D"/>
                </a:solidFill>
                <a:latin typeface="Open Sans Light"/>
                <a:ea typeface="Open Sans Light"/>
                <a:cs typeface="Open Sans Light"/>
              </a:rPr>
              <a:t> like trust and distrust, which eventually can mobilize de action</a:t>
            </a:r>
          </a:p>
        </p:txBody>
      </p:sp>
      <p:pic>
        <p:nvPicPr>
          <p:cNvPr id="12" name="Imagen 11"/>
          <p:cNvPicPr>
            <a:picLocks noChangeAspect="1"/>
          </p:cNvPicPr>
          <p:nvPr/>
        </p:nvPicPr>
        <p:blipFill>
          <a:blip r:embed="rId4">
            <a:extLst>
              <a:ext uri="{BEBA8EAE-BF5A-486C-A8C5-ECC9F3942E4B}">
                <a14:imgProps xmlns:a14="http://schemas.microsoft.com/office/drawing/2010/main">
                  <a14:imgLayer r:embed="rId5">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257906" y="2318709"/>
            <a:ext cx="3178449" cy="3178449"/>
          </a:xfrm>
          <a:prstGeom prst="rect">
            <a:avLst/>
          </a:prstGeom>
        </p:spPr>
      </p:pic>
    </p:spTree>
    <p:extLst>
      <p:ext uri="{BB962C8B-B14F-4D97-AF65-F5344CB8AC3E}">
        <p14:creationId xmlns:p14="http://schemas.microsoft.com/office/powerpoint/2010/main" val="112165256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EBD65-3003-9C85-16B7-3933D4B0EADB}"/>
              </a:ext>
            </a:extLst>
          </p:cNvPr>
          <p:cNvSpPr>
            <a:spLocks noGrp="1"/>
          </p:cNvSpPr>
          <p:nvPr>
            <p:ph type="title"/>
          </p:nvPr>
        </p:nvSpPr>
        <p:spPr/>
        <p:txBody>
          <a:bodyPr>
            <a:normAutofit/>
          </a:bodyPr>
          <a:lstStyle/>
          <a:p>
            <a:r>
              <a:rPr lang="fr-FR" sz="3600" b="1">
                <a:solidFill>
                  <a:srgbClr val="17287D"/>
                </a:solidFill>
                <a:latin typeface="Space Mono" panose="02000509040000020004" pitchFamily="49" charset="77"/>
              </a:rPr>
              <a:t>YELLOW FEVER</a:t>
            </a:r>
          </a:p>
        </p:txBody>
      </p:sp>
      <p:sp>
        <p:nvSpPr>
          <p:cNvPr id="4" name="Espace réservé de la date 3">
            <a:extLst>
              <a:ext uri="{FF2B5EF4-FFF2-40B4-BE49-F238E27FC236}">
                <a16:creationId xmlns:a16="http://schemas.microsoft.com/office/drawing/2014/main" id="{B90FB047-1276-DA89-CA45-E09C8E0D6EF3}"/>
              </a:ext>
            </a:extLst>
          </p:cNvPr>
          <p:cNvSpPr>
            <a:spLocks noGrp="1"/>
          </p:cNvSpPr>
          <p:nvPr>
            <p:ph type="dt" sz="half" idx="10"/>
          </p:nvPr>
        </p:nvSpPr>
        <p:spPr/>
        <p:txBody>
          <a:bodyPr/>
          <a:lstStyle/>
          <a:p>
            <a:fld id="{94526031-CB8A-5F42-A6F0-E6F32424FB55}" type="datetime1">
              <a:rPr lang="nl-NL" sz="1000" smtClean="0">
                <a:latin typeface="Open Sans Light" pitchFamily="2" charset="0"/>
                <a:ea typeface="Open Sans Light" pitchFamily="2" charset="0"/>
                <a:cs typeface="Open Sans Light" pitchFamily="2" charset="0"/>
              </a:rPr>
              <a:t>7-7-2025</a:t>
            </a:fld>
            <a:endParaRPr lang="nl-NL" sz="1000">
              <a:latin typeface="Open Sans Light" pitchFamily="2" charset="0"/>
              <a:ea typeface="Open Sans Light" pitchFamily="2" charset="0"/>
              <a:cs typeface="Open Sans Light" pitchFamily="2" charset="0"/>
            </a:endParaRPr>
          </a:p>
        </p:txBody>
      </p:sp>
      <p:sp>
        <p:nvSpPr>
          <p:cNvPr id="5" name="Espace réservé du numéro de diapositive 4">
            <a:extLst>
              <a:ext uri="{FF2B5EF4-FFF2-40B4-BE49-F238E27FC236}">
                <a16:creationId xmlns:a16="http://schemas.microsoft.com/office/drawing/2014/main" id="{64BF1477-643A-6A43-4DE5-808A609B9A91}"/>
              </a:ext>
            </a:extLst>
          </p:cNvPr>
          <p:cNvSpPr>
            <a:spLocks noGrp="1"/>
          </p:cNvSpPr>
          <p:nvPr>
            <p:ph type="sldNum" sz="quarter" idx="12"/>
          </p:nvPr>
        </p:nvSpPr>
        <p:spPr/>
        <p:txBody>
          <a:bodyPr/>
          <a:lstStyle/>
          <a:p>
            <a:fld id="{8BBA71A0-6CC0-AB46-8BCD-539147384510}" type="slidenum">
              <a:rPr lang="nl-NL" smtClean="0">
                <a:latin typeface="Open Sans" pitchFamily="2" charset="0"/>
                <a:ea typeface="Open Sans" pitchFamily="2" charset="0"/>
                <a:cs typeface="Open Sans" pitchFamily="2" charset="0"/>
              </a:rPr>
              <a:t>8</a:t>
            </a:fld>
            <a:endParaRPr lang="nl-NL">
              <a:latin typeface="Open Sans" pitchFamily="2" charset="0"/>
              <a:ea typeface="Open Sans" pitchFamily="2" charset="0"/>
              <a:cs typeface="Open Sans" pitchFamily="2" charset="0"/>
            </a:endParaRPr>
          </a:p>
        </p:txBody>
      </p:sp>
      <p:sp>
        <p:nvSpPr>
          <p:cNvPr id="7" name="Espace réservé du contenu 2">
            <a:extLst>
              <a:ext uri="{FF2B5EF4-FFF2-40B4-BE49-F238E27FC236}">
                <a16:creationId xmlns:a16="http://schemas.microsoft.com/office/drawing/2014/main" id="{D7E49828-EABD-5D37-6D35-F65CC3B5691A}"/>
              </a:ext>
            </a:extLst>
          </p:cNvPr>
          <p:cNvSpPr txBox="1">
            <a:spLocks/>
          </p:cNvSpPr>
          <p:nvPr/>
        </p:nvSpPr>
        <p:spPr>
          <a:xfrm>
            <a:off x="5307106" y="1696384"/>
            <a:ext cx="6606988" cy="51616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2C301"/>
              </a:buClr>
            </a:pPr>
            <a:r>
              <a:rPr lang="en-US" sz="2400">
                <a:solidFill>
                  <a:srgbClr val="17287D"/>
                </a:solidFill>
                <a:latin typeface="Open Sans Light" pitchFamily="2" charset="0"/>
                <a:ea typeface="Open Sans Light" pitchFamily="2" charset="0"/>
                <a:cs typeface="Open Sans Light" pitchFamily="2" charset="0"/>
              </a:rPr>
              <a:t>Is a </a:t>
            </a:r>
            <a:r>
              <a:rPr lang="en-US" sz="2400" b="1">
                <a:solidFill>
                  <a:srgbClr val="F2C301"/>
                </a:solidFill>
                <a:latin typeface="Open Sans Light" pitchFamily="2" charset="0"/>
                <a:ea typeface="Open Sans Light" pitchFamily="2" charset="0"/>
                <a:cs typeface="Open Sans Light" pitchFamily="2" charset="0"/>
              </a:rPr>
              <a:t>reliable vaccine </a:t>
            </a:r>
            <a:r>
              <a:rPr lang="en-US" sz="2400">
                <a:solidFill>
                  <a:srgbClr val="17287D"/>
                </a:solidFill>
                <a:latin typeface="Open Sans Light" pitchFamily="2" charset="0"/>
                <a:ea typeface="Open Sans Light" pitchFamily="2" charset="0"/>
                <a:cs typeface="Open Sans Light" pitchFamily="2" charset="0"/>
              </a:rPr>
              <a:t>with </a:t>
            </a:r>
            <a:r>
              <a:rPr lang="en-US" sz="2400" b="1">
                <a:solidFill>
                  <a:srgbClr val="F2C301"/>
                </a:solidFill>
                <a:latin typeface="Open Sans Light" pitchFamily="2" charset="0"/>
                <a:ea typeface="Open Sans Light" pitchFamily="2" charset="0"/>
                <a:cs typeface="Open Sans Light" pitchFamily="2" charset="0"/>
              </a:rPr>
              <a:t>moderate risk perception</a:t>
            </a:r>
            <a:r>
              <a:rPr lang="en-US" sz="2400">
                <a:solidFill>
                  <a:srgbClr val="17287D"/>
                </a:solidFill>
                <a:latin typeface="Open Sans Light" pitchFamily="2" charset="0"/>
                <a:ea typeface="Open Sans Light" pitchFamily="2" charset="0"/>
                <a:cs typeface="Open Sans Light" pitchFamily="2" charset="0"/>
              </a:rPr>
              <a:t>.</a:t>
            </a:r>
          </a:p>
          <a:p>
            <a:pPr>
              <a:buClr>
                <a:srgbClr val="F2C301"/>
              </a:buClr>
            </a:pPr>
            <a:r>
              <a:rPr lang="en-US" sz="2400">
                <a:solidFill>
                  <a:srgbClr val="17287D"/>
                </a:solidFill>
                <a:latin typeface="Open Sans Light" pitchFamily="2" charset="0"/>
                <a:ea typeface="Open Sans Light" pitchFamily="2" charset="0"/>
                <a:cs typeface="Open Sans Light" pitchFamily="2" charset="0"/>
              </a:rPr>
              <a:t>The </a:t>
            </a:r>
            <a:r>
              <a:rPr lang="en-US" sz="2400" b="1">
                <a:solidFill>
                  <a:srgbClr val="F2C301"/>
                </a:solidFill>
                <a:latin typeface="Open Sans Light" pitchFamily="2" charset="0"/>
                <a:ea typeface="Open Sans Light" pitchFamily="2" charset="0"/>
                <a:cs typeface="Open Sans Light" pitchFamily="2" charset="0"/>
              </a:rPr>
              <a:t>disease</a:t>
            </a:r>
            <a:r>
              <a:rPr lang="en-US" sz="2400">
                <a:solidFill>
                  <a:srgbClr val="17287D"/>
                </a:solidFill>
                <a:latin typeface="Open Sans Light" pitchFamily="2" charset="0"/>
                <a:ea typeface="Open Sans Light" pitchFamily="2" charset="0"/>
                <a:cs typeface="Open Sans Light" pitchFamily="2" charset="0"/>
              </a:rPr>
              <a:t> is recognized as </a:t>
            </a:r>
            <a:r>
              <a:rPr lang="en-US" sz="2400" b="1">
                <a:solidFill>
                  <a:srgbClr val="F2C301"/>
                </a:solidFill>
                <a:latin typeface="Open Sans Light" pitchFamily="2" charset="0"/>
                <a:ea typeface="Open Sans Light" pitchFamily="2" charset="0"/>
                <a:cs typeface="Open Sans Light" pitchFamily="2" charset="0"/>
              </a:rPr>
              <a:t>severe</a:t>
            </a:r>
            <a:r>
              <a:rPr lang="en-US" sz="2400">
                <a:solidFill>
                  <a:srgbClr val="17287D"/>
                </a:solidFill>
                <a:latin typeface="Open Sans Light" pitchFamily="2" charset="0"/>
                <a:ea typeface="Open Sans Light" pitchFamily="2" charset="0"/>
                <a:cs typeface="Open Sans Light" pitchFamily="2" charset="0"/>
              </a:rPr>
              <a:t> but perceived as </a:t>
            </a:r>
            <a:r>
              <a:rPr lang="en-US" sz="2400" b="1">
                <a:solidFill>
                  <a:srgbClr val="F2C301"/>
                </a:solidFill>
                <a:latin typeface="Open Sans Light" pitchFamily="2" charset="0"/>
                <a:ea typeface="Open Sans Light" pitchFamily="2" charset="0"/>
                <a:cs typeface="Open Sans Light" pitchFamily="2" charset="0"/>
              </a:rPr>
              <a:t>infrequent</a:t>
            </a:r>
            <a:r>
              <a:rPr lang="en-US" sz="2400">
                <a:solidFill>
                  <a:srgbClr val="17287D"/>
                </a:solidFill>
                <a:latin typeface="Open Sans Light" pitchFamily="2" charset="0"/>
                <a:ea typeface="Open Sans Light" pitchFamily="2" charset="0"/>
                <a:cs typeface="Open Sans Light" pitchFamily="2" charset="0"/>
              </a:rPr>
              <a:t>.</a:t>
            </a:r>
          </a:p>
          <a:p>
            <a:pPr>
              <a:buClr>
                <a:srgbClr val="F2C301"/>
              </a:buClr>
            </a:pPr>
            <a:r>
              <a:rPr lang="en-US" sz="2400" b="1">
                <a:solidFill>
                  <a:srgbClr val="F2C301"/>
                </a:solidFill>
                <a:latin typeface="Open Sans Light" pitchFamily="2" charset="0"/>
                <a:ea typeface="Open Sans Light" pitchFamily="2" charset="0"/>
                <a:cs typeface="Open Sans Light" pitchFamily="2" charset="0"/>
              </a:rPr>
              <a:t>Knowledge</a:t>
            </a:r>
            <a:r>
              <a:rPr lang="en-US" sz="2400">
                <a:solidFill>
                  <a:srgbClr val="17287D"/>
                </a:solidFill>
                <a:latin typeface="Open Sans Light" pitchFamily="2" charset="0"/>
                <a:ea typeface="Open Sans Light" pitchFamily="2" charset="0"/>
                <a:cs typeface="Open Sans Light" pitchFamily="2" charset="0"/>
              </a:rPr>
              <a:t> about yellow fever and vaccine technology is notably </a:t>
            </a:r>
            <a:r>
              <a:rPr lang="en-US" sz="2400" b="1">
                <a:solidFill>
                  <a:srgbClr val="F2C301"/>
                </a:solidFill>
                <a:latin typeface="Open Sans Light" pitchFamily="2" charset="0"/>
                <a:ea typeface="Open Sans Light" pitchFamily="2" charset="0"/>
                <a:cs typeface="Open Sans Light" pitchFamily="2" charset="0"/>
              </a:rPr>
              <a:t>low</a:t>
            </a:r>
            <a:r>
              <a:rPr lang="en-US" sz="2400">
                <a:solidFill>
                  <a:srgbClr val="17287D"/>
                </a:solidFill>
                <a:latin typeface="Open Sans Light" pitchFamily="2" charset="0"/>
                <a:ea typeface="Open Sans Light" pitchFamily="2" charset="0"/>
                <a:cs typeface="Open Sans Light" pitchFamily="2" charset="0"/>
              </a:rPr>
              <a:t>.</a:t>
            </a:r>
          </a:p>
          <a:p>
            <a:pPr>
              <a:buClr>
                <a:srgbClr val="F2C301"/>
              </a:buClr>
            </a:pPr>
            <a:r>
              <a:rPr lang="en-US" sz="2400">
                <a:solidFill>
                  <a:srgbClr val="17287D"/>
                </a:solidFill>
                <a:latin typeface="Open Sans Light" pitchFamily="2" charset="0"/>
                <a:ea typeface="Open Sans Light" pitchFamily="2" charset="0"/>
                <a:cs typeface="Open Sans Light" pitchFamily="2" charset="0"/>
              </a:rPr>
              <a:t>People commonly </a:t>
            </a:r>
            <a:r>
              <a:rPr lang="en-US" sz="2400" b="1">
                <a:solidFill>
                  <a:srgbClr val="F2C301"/>
                </a:solidFill>
                <a:latin typeface="Open Sans Light" pitchFamily="2" charset="0"/>
                <a:ea typeface="Open Sans Light" pitchFamily="2" charset="0"/>
                <a:cs typeface="Open Sans Light" pitchFamily="2" charset="0"/>
              </a:rPr>
              <a:t>identify</a:t>
            </a:r>
            <a:r>
              <a:rPr lang="en-US" sz="2400">
                <a:solidFill>
                  <a:srgbClr val="17287D"/>
                </a:solidFill>
                <a:latin typeface="Open Sans Light" pitchFamily="2" charset="0"/>
                <a:ea typeface="Open Sans Light" pitchFamily="2" charset="0"/>
                <a:cs typeface="Open Sans Light" pitchFamily="2" charset="0"/>
              </a:rPr>
              <a:t> mosquito bites as the </a:t>
            </a:r>
            <a:r>
              <a:rPr lang="en-US" sz="2400" b="1">
                <a:solidFill>
                  <a:srgbClr val="F2C301"/>
                </a:solidFill>
                <a:latin typeface="Open Sans Light" pitchFamily="2" charset="0"/>
                <a:ea typeface="Open Sans Light" pitchFamily="2" charset="0"/>
                <a:cs typeface="Open Sans Light" pitchFamily="2" charset="0"/>
              </a:rPr>
              <a:t>transmission route</a:t>
            </a:r>
            <a:r>
              <a:rPr lang="en-US" sz="2400">
                <a:solidFill>
                  <a:srgbClr val="17287D"/>
                </a:solidFill>
                <a:latin typeface="Open Sans Light" pitchFamily="2" charset="0"/>
                <a:ea typeface="Open Sans Light" pitchFamily="2" charset="0"/>
                <a:cs typeface="Open Sans Light" pitchFamily="2" charset="0"/>
              </a:rPr>
              <a:t>.</a:t>
            </a:r>
          </a:p>
          <a:p>
            <a:pPr>
              <a:buClr>
                <a:srgbClr val="F2C301"/>
              </a:buClr>
            </a:pPr>
            <a:r>
              <a:rPr lang="en-US" sz="2400" b="1">
                <a:solidFill>
                  <a:srgbClr val="F2C301"/>
                </a:solidFill>
                <a:latin typeface="Open Sans Light" pitchFamily="2" charset="0"/>
                <a:ea typeface="Open Sans Light" pitchFamily="2" charset="0"/>
                <a:cs typeface="Open Sans Light" pitchFamily="2" charset="0"/>
              </a:rPr>
              <a:t>Travel requirements </a:t>
            </a:r>
            <a:r>
              <a:rPr lang="en-US" sz="2400">
                <a:solidFill>
                  <a:srgbClr val="17287D"/>
                </a:solidFill>
                <a:latin typeface="Open Sans Light" pitchFamily="2" charset="0"/>
                <a:ea typeface="Open Sans Light" pitchFamily="2" charset="0"/>
                <a:cs typeface="Open Sans Light" pitchFamily="2" charset="0"/>
              </a:rPr>
              <a:t>are the primary motivator for vaccination.</a:t>
            </a:r>
          </a:p>
        </p:txBody>
      </p:sp>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4195" y="2259106"/>
            <a:ext cx="2963732" cy="2963732"/>
          </a:xfrm>
          <a:prstGeom prst="rect">
            <a:avLst/>
          </a:prstGeom>
        </p:spPr>
      </p:pic>
    </p:spTree>
    <p:extLst>
      <p:ext uri="{BB962C8B-B14F-4D97-AF65-F5344CB8AC3E}">
        <p14:creationId xmlns:p14="http://schemas.microsoft.com/office/powerpoint/2010/main" val="2482567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EBD65-3003-9C85-16B7-3933D4B0EADB}"/>
              </a:ext>
            </a:extLst>
          </p:cNvPr>
          <p:cNvSpPr>
            <a:spLocks noGrp="1"/>
          </p:cNvSpPr>
          <p:nvPr>
            <p:ph type="title"/>
          </p:nvPr>
        </p:nvSpPr>
        <p:spPr/>
        <p:txBody>
          <a:bodyPr>
            <a:normAutofit/>
          </a:bodyPr>
          <a:lstStyle/>
          <a:p>
            <a:r>
              <a:rPr lang="fr-FR" sz="3600" b="1">
                <a:solidFill>
                  <a:srgbClr val="17287D"/>
                </a:solidFill>
                <a:latin typeface="Space Mono" panose="02000509040000020004" pitchFamily="49" charset="77"/>
              </a:rPr>
              <a:t>PRELIMINARY CONCLUSIONS </a:t>
            </a:r>
          </a:p>
        </p:txBody>
      </p:sp>
      <p:sp>
        <p:nvSpPr>
          <p:cNvPr id="3" name="Espace réservé du contenu 2">
            <a:extLst>
              <a:ext uri="{FF2B5EF4-FFF2-40B4-BE49-F238E27FC236}">
                <a16:creationId xmlns:a16="http://schemas.microsoft.com/office/drawing/2014/main" id="{D7E49828-EABD-5D37-6D35-F65CC3B5691A}"/>
              </a:ext>
            </a:extLst>
          </p:cNvPr>
          <p:cNvSpPr>
            <a:spLocks noGrp="1"/>
          </p:cNvSpPr>
          <p:nvPr>
            <p:ph idx="1"/>
          </p:nvPr>
        </p:nvSpPr>
        <p:spPr>
          <a:xfrm>
            <a:off x="5429250" y="1690688"/>
            <a:ext cx="6481258" cy="4351338"/>
          </a:xfrm>
        </p:spPr>
        <p:txBody>
          <a:bodyPr vert="horz" lIns="91440" tIns="45720" rIns="91440" bIns="45720" rtlCol="0" anchor="t">
            <a:normAutofit/>
          </a:bodyPr>
          <a:lstStyle/>
          <a:p>
            <a:pPr>
              <a:buClr>
                <a:srgbClr val="F2C301"/>
              </a:buClr>
            </a:pPr>
            <a:endParaRPr lang="en-US" sz="2400" b="1">
              <a:solidFill>
                <a:srgbClr val="F2C301"/>
              </a:solidFill>
              <a:latin typeface="Open Sans Light" pitchFamily="2" charset="0"/>
              <a:ea typeface="Open Sans Light" pitchFamily="2" charset="0"/>
              <a:cs typeface="Open Sans Light" pitchFamily="2" charset="0"/>
            </a:endParaRPr>
          </a:p>
          <a:p>
            <a:pPr>
              <a:buClr>
                <a:srgbClr val="F2C301"/>
              </a:buClr>
            </a:pPr>
            <a:r>
              <a:rPr lang="en-US" sz="2400" b="1">
                <a:solidFill>
                  <a:srgbClr val="F2C301"/>
                </a:solidFill>
                <a:latin typeface="Open Sans Light"/>
                <a:ea typeface="Open Sans Light"/>
                <a:cs typeface="Open Sans Light"/>
              </a:rPr>
              <a:t>Improving vaccine risk perception </a:t>
            </a:r>
            <a:r>
              <a:rPr lang="en-US" sz="2400">
                <a:solidFill>
                  <a:srgbClr val="17287D"/>
                </a:solidFill>
                <a:latin typeface="Open Sans Light"/>
                <a:ea typeface="Open Sans Light"/>
                <a:cs typeface="Open Sans Light"/>
              </a:rPr>
              <a:t>and  </a:t>
            </a:r>
            <a:r>
              <a:rPr lang="en-US" sz="2400" b="1">
                <a:solidFill>
                  <a:srgbClr val="F2C301"/>
                </a:solidFill>
                <a:latin typeface="Open Sans Light"/>
                <a:ea typeface="Open Sans Light"/>
                <a:cs typeface="Open Sans Light"/>
              </a:rPr>
              <a:t>building trust </a:t>
            </a:r>
            <a:r>
              <a:rPr lang="en-US" sz="2400">
                <a:solidFill>
                  <a:srgbClr val="17287D"/>
                </a:solidFill>
                <a:latin typeface="Open Sans Light"/>
                <a:ea typeface="Open Sans Light"/>
                <a:cs typeface="Open Sans Light"/>
              </a:rPr>
              <a:t>is crucial.</a:t>
            </a:r>
          </a:p>
          <a:p>
            <a:pPr>
              <a:buClr>
                <a:srgbClr val="F2C301"/>
              </a:buClr>
            </a:pPr>
            <a:r>
              <a:rPr lang="en-US" sz="2400" b="1">
                <a:solidFill>
                  <a:srgbClr val="F2C301"/>
                </a:solidFill>
                <a:latin typeface="Open Sans Light" pitchFamily="2" charset="0"/>
                <a:ea typeface="Open Sans Light" pitchFamily="2" charset="0"/>
                <a:cs typeface="Open Sans Light" pitchFamily="2" charset="0"/>
              </a:rPr>
              <a:t>Effective communication </a:t>
            </a:r>
            <a:r>
              <a:rPr lang="en-US" sz="2400">
                <a:solidFill>
                  <a:srgbClr val="17287D"/>
                </a:solidFill>
                <a:latin typeface="Open Sans Light" pitchFamily="2" charset="0"/>
                <a:ea typeface="Open Sans Light" pitchFamily="2" charset="0"/>
                <a:cs typeface="Open Sans Light" pitchFamily="2" charset="0"/>
              </a:rPr>
              <a:t>about vaccines, their benefits, and risks is essential for informed decision-making.</a:t>
            </a:r>
          </a:p>
          <a:p>
            <a:pPr>
              <a:buClr>
                <a:srgbClr val="F2C301"/>
              </a:buClr>
            </a:pPr>
            <a:r>
              <a:rPr lang="en-US" sz="2400">
                <a:solidFill>
                  <a:srgbClr val="17287D"/>
                </a:solidFill>
                <a:latin typeface="Open Sans Light" pitchFamily="2" charset="0"/>
                <a:ea typeface="Open Sans Light" pitchFamily="2" charset="0"/>
                <a:cs typeface="Open Sans Light" pitchFamily="2" charset="0"/>
              </a:rPr>
              <a:t>Exploring </a:t>
            </a:r>
            <a:r>
              <a:rPr lang="en-US" sz="2400" b="1">
                <a:solidFill>
                  <a:srgbClr val="F2C301"/>
                </a:solidFill>
                <a:latin typeface="Open Sans Light" pitchFamily="2" charset="0"/>
                <a:ea typeface="Open Sans Light" pitchFamily="2" charset="0"/>
                <a:cs typeface="Open Sans Light" pitchFamily="2" charset="0"/>
              </a:rPr>
              <a:t>influencers</a:t>
            </a:r>
            <a:r>
              <a:rPr lang="en-US" sz="2400">
                <a:solidFill>
                  <a:srgbClr val="17287D"/>
                </a:solidFill>
                <a:latin typeface="Open Sans Light" pitchFamily="2" charset="0"/>
                <a:ea typeface="Open Sans Light" pitchFamily="2" charset="0"/>
                <a:cs typeface="Open Sans Light" pitchFamily="2" charset="0"/>
              </a:rPr>
              <a:t>, </a:t>
            </a:r>
            <a:r>
              <a:rPr lang="en-US" sz="2400" b="1">
                <a:solidFill>
                  <a:srgbClr val="F2C301"/>
                </a:solidFill>
                <a:latin typeface="Open Sans Light" pitchFamily="2" charset="0"/>
                <a:ea typeface="Open Sans Light" pitchFamily="2" charset="0"/>
                <a:cs typeface="Open Sans Light" pitchFamily="2" charset="0"/>
              </a:rPr>
              <a:t>information</a:t>
            </a:r>
            <a:r>
              <a:rPr lang="en-US" sz="2400">
                <a:solidFill>
                  <a:srgbClr val="17287D"/>
                </a:solidFill>
                <a:latin typeface="Open Sans Light" pitchFamily="2" charset="0"/>
                <a:ea typeface="Open Sans Light" pitchFamily="2" charset="0"/>
                <a:cs typeface="Open Sans Light" pitchFamily="2" charset="0"/>
              </a:rPr>
              <a:t> source preferences, and cultural factors shaping </a:t>
            </a:r>
            <a:r>
              <a:rPr lang="en-US" sz="2400" b="1">
                <a:solidFill>
                  <a:srgbClr val="F2C301"/>
                </a:solidFill>
                <a:latin typeface="Open Sans Light" pitchFamily="2" charset="0"/>
                <a:ea typeface="Open Sans Light" pitchFamily="2" charset="0"/>
                <a:cs typeface="Open Sans Light" pitchFamily="2" charset="0"/>
              </a:rPr>
              <a:t>cognitive decision-making processes </a:t>
            </a:r>
            <a:r>
              <a:rPr lang="en-US" sz="2400">
                <a:solidFill>
                  <a:srgbClr val="17287D"/>
                </a:solidFill>
                <a:latin typeface="Open Sans Light" pitchFamily="2" charset="0"/>
                <a:ea typeface="Open Sans Light" pitchFamily="2" charset="0"/>
                <a:cs typeface="Open Sans Light" pitchFamily="2" charset="0"/>
              </a:rPr>
              <a:t>is recommended.</a:t>
            </a:r>
            <a:endParaRPr lang="fr-FR" sz="2400">
              <a:solidFill>
                <a:srgbClr val="17287D"/>
              </a:solidFill>
              <a:latin typeface="Open Sans Light" pitchFamily="2" charset="0"/>
              <a:ea typeface="Open Sans Light" pitchFamily="2" charset="0"/>
              <a:cs typeface="Open Sans Light" pitchFamily="2" charset="0"/>
            </a:endParaRPr>
          </a:p>
        </p:txBody>
      </p:sp>
      <p:sp>
        <p:nvSpPr>
          <p:cNvPr id="4" name="Espace réservé de la date 3">
            <a:extLst>
              <a:ext uri="{FF2B5EF4-FFF2-40B4-BE49-F238E27FC236}">
                <a16:creationId xmlns:a16="http://schemas.microsoft.com/office/drawing/2014/main" id="{B90FB047-1276-DA89-CA45-E09C8E0D6EF3}"/>
              </a:ext>
            </a:extLst>
          </p:cNvPr>
          <p:cNvSpPr>
            <a:spLocks noGrp="1"/>
          </p:cNvSpPr>
          <p:nvPr>
            <p:ph type="dt" sz="half" idx="10"/>
          </p:nvPr>
        </p:nvSpPr>
        <p:spPr/>
        <p:txBody>
          <a:bodyPr/>
          <a:lstStyle/>
          <a:p>
            <a:fld id="{94526031-CB8A-5F42-A6F0-E6F32424FB55}" type="datetime1">
              <a:rPr lang="nl-NL" sz="1000" smtClean="0">
                <a:latin typeface="Open Sans Light" pitchFamily="2" charset="0"/>
                <a:ea typeface="Open Sans Light" pitchFamily="2" charset="0"/>
                <a:cs typeface="Open Sans Light" pitchFamily="2" charset="0"/>
              </a:rPr>
              <a:t>7-7-2025</a:t>
            </a:fld>
            <a:endParaRPr lang="nl-NL" sz="1000">
              <a:latin typeface="Open Sans Light" pitchFamily="2" charset="0"/>
              <a:ea typeface="Open Sans Light" pitchFamily="2" charset="0"/>
              <a:cs typeface="Open Sans Light" pitchFamily="2" charset="0"/>
            </a:endParaRPr>
          </a:p>
        </p:txBody>
      </p:sp>
      <p:sp>
        <p:nvSpPr>
          <p:cNvPr id="5" name="Espace réservé du numéro de diapositive 4">
            <a:extLst>
              <a:ext uri="{FF2B5EF4-FFF2-40B4-BE49-F238E27FC236}">
                <a16:creationId xmlns:a16="http://schemas.microsoft.com/office/drawing/2014/main" id="{64BF1477-643A-6A43-4DE5-808A609B9A91}"/>
              </a:ext>
            </a:extLst>
          </p:cNvPr>
          <p:cNvSpPr>
            <a:spLocks noGrp="1"/>
          </p:cNvSpPr>
          <p:nvPr>
            <p:ph type="sldNum" sz="quarter" idx="12"/>
          </p:nvPr>
        </p:nvSpPr>
        <p:spPr/>
        <p:txBody>
          <a:bodyPr/>
          <a:lstStyle/>
          <a:p>
            <a:fld id="{8BBA71A0-6CC0-AB46-8BCD-539147384510}" type="slidenum">
              <a:rPr lang="nl-NL" smtClean="0">
                <a:latin typeface="Open Sans" pitchFamily="2" charset="0"/>
                <a:ea typeface="Open Sans" pitchFamily="2" charset="0"/>
                <a:cs typeface="Open Sans" pitchFamily="2" charset="0"/>
              </a:rPr>
              <a:t>9</a:t>
            </a:fld>
            <a:endParaRPr lang="nl-NL">
              <a:latin typeface="Open Sans" pitchFamily="2" charset="0"/>
              <a:ea typeface="Open Sans" pitchFamily="2" charset="0"/>
              <a:cs typeface="Open Sans" pitchFamily="2" charset="0"/>
            </a:endParaRPr>
          </a:p>
        </p:txBody>
      </p:sp>
      <p:sp>
        <p:nvSpPr>
          <p:cNvPr id="7" name="Espace réservé du contenu 2">
            <a:extLst>
              <a:ext uri="{FF2B5EF4-FFF2-40B4-BE49-F238E27FC236}">
                <a16:creationId xmlns:a16="http://schemas.microsoft.com/office/drawing/2014/main" id="{D7E49828-EABD-5D37-6D35-F65CC3B5691A}"/>
              </a:ext>
            </a:extLst>
          </p:cNvPr>
          <p:cNvSpPr txBox="1">
            <a:spLocks/>
          </p:cNvSpPr>
          <p:nvPr/>
        </p:nvSpPr>
        <p:spPr>
          <a:xfrm>
            <a:off x="6466242" y="1823160"/>
            <a:ext cx="54442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2C301"/>
              </a:buClr>
            </a:pPr>
            <a:endParaRPr lang="fr-FR" sz="2400">
              <a:solidFill>
                <a:srgbClr val="17287D"/>
              </a:solidFill>
              <a:latin typeface="Open Sans Light" pitchFamily="2" charset="0"/>
              <a:ea typeface="Open Sans Light" pitchFamily="2" charset="0"/>
              <a:cs typeface="Open Sans Light" pitchFamily="2" charset="0"/>
            </a:endParaRPr>
          </a:p>
        </p:txBody>
      </p:sp>
      <p:pic>
        <p:nvPicPr>
          <p:cNvPr id="10" name="Imagen 9"/>
          <p:cNvPicPr>
            <a:picLocks noChangeAspect="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60929" y="2085518"/>
            <a:ext cx="3561678" cy="3561678"/>
          </a:xfrm>
          <a:prstGeom prst="rect">
            <a:avLst/>
          </a:prstGeom>
        </p:spPr>
      </p:pic>
    </p:spTree>
    <p:extLst>
      <p:ext uri="{BB962C8B-B14F-4D97-AF65-F5344CB8AC3E}">
        <p14:creationId xmlns:p14="http://schemas.microsoft.com/office/powerpoint/2010/main" val="163279312"/>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69EA70BD72E2543869CF646AE1EF858" ma:contentTypeVersion="13" ma:contentTypeDescription="Crée un document." ma:contentTypeScope="" ma:versionID="0d5618c01100a5e57aa8000bdf424c24">
  <xsd:schema xmlns:xsd="http://www.w3.org/2001/XMLSchema" xmlns:xs="http://www.w3.org/2001/XMLSchema" xmlns:p="http://schemas.microsoft.com/office/2006/metadata/properties" xmlns:ns2="f25b46ec-f3ec-4540-9792-87600217be10" xmlns:ns3="b96b3c65-dc9b-4ef4-aa89-f010ef423285" targetNamespace="http://schemas.microsoft.com/office/2006/metadata/properties" ma:root="true" ma:fieldsID="5dac4a768a614829df872d5f9c37b6bb" ns2:_="" ns3:_="">
    <xsd:import namespace="f25b46ec-f3ec-4540-9792-87600217be10"/>
    <xsd:import namespace="b96b3c65-dc9b-4ef4-aa89-f010ef4232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5b46ec-f3ec-4540-9792-87600217be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c52775a5-6422-46e9-86d7-3e37fb9d695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6b3c65-dc9b-4ef4-aa89-f010ef42328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7361cac2-6718-4126-ad76-abfdab32f1be}" ma:internalName="TaxCatchAll" ma:showField="CatchAllData" ma:web="b96b3c65-dc9b-4ef4-aa89-f010ef4232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CCE8F3-E9D7-4F2C-8BC8-310D1337D6E2}">
  <ds:schemaRefs>
    <ds:schemaRef ds:uri="http://schemas.microsoft.com/sharepoint/v3/contenttype/forms"/>
  </ds:schemaRefs>
</ds:datastoreItem>
</file>

<file path=customXml/itemProps2.xml><?xml version="1.0" encoding="utf-8"?>
<ds:datastoreItem xmlns:ds="http://schemas.openxmlformats.org/officeDocument/2006/customXml" ds:itemID="{B24C5D83-9D6D-4922-A798-D9D86062A0A6}">
  <ds:schemaRefs>
    <ds:schemaRef ds:uri="b96b3c65-dc9b-4ef4-aa89-f010ef423285"/>
    <ds:schemaRef ds:uri="f25b46ec-f3ec-4540-9792-87600217be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312</Words>
  <Application>Microsoft Office PowerPoint</Application>
  <PresentationFormat>Widescreen</PresentationFormat>
  <Paragraphs>70</Paragraphs>
  <Slides>9</Slides>
  <Notes>5</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Kantoorthema</vt:lpstr>
      <vt:lpstr>PowerPoint Presentation</vt:lpstr>
      <vt:lpstr>PowerPoint Presentation</vt:lpstr>
      <vt:lpstr>PARTICIPANTS</vt:lpstr>
      <vt:lpstr>FINDINGS</vt:lpstr>
      <vt:lpstr>PowerPoint Presentation</vt:lpstr>
      <vt:lpstr>HEALTH SYSTEM</vt:lpstr>
      <vt:lpstr>PERCEPTIONS</vt:lpstr>
      <vt:lpstr>YELLOW FEVER</vt:lpstr>
      <vt:lpstr>PRELIMINARY CONCLUSIONS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Jan Martin Wilschut</dc:creator>
  <cp:lastModifiedBy>Juan Camilo Montoya Diaz</cp:lastModifiedBy>
  <cp:revision>3</cp:revision>
  <dcterms:created xsi:type="dcterms:W3CDTF">2024-08-27T08:18:51Z</dcterms:created>
  <dcterms:modified xsi:type="dcterms:W3CDTF">2025-07-07T14:19:42Z</dcterms:modified>
</cp:coreProperties>
</file>