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9" r:id="rId5"/>
    <p:sldId id="271" r:id="rId6"/>
    <p:sldId id="268" r:id="rId7"/>
    <p:sldId id="269" r:id="rId8"/>
    <p:sldId id="270" r:id="rId9"/>
    <p:sldId id="2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D693C-07B2-B486-6515-404E54ED3B39}" v="1" dt="2024-06-06T19:17:15.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39948"/>
            <a:ext cx="9144000" cy="2387600"/>
          </a:xfrm>
        </p:spPr>
        <p:txBody>
          <a:bodyPr vert="horz" lIns="91440" tIns="45720" rIns="91440" bIns="45720" rtlCol="0" anchor="b">
            <a:noAutofit/>
          </a:bodyPr>
          <a:lstStyle/>
          <a:p>
            <a:endParaRPr lang="en-US" sz="3000" b="1" dirty="0">
              <a:latin typeface="Calibri Light"/>
              <a:cs typeface="Calibri Light"/>
            </a:endParaRPr>
          </a:p>
          <a:p>
            <a:r>
              <a:rPr lang="en-US" sz="3000" b="1" dirty="0">
                <a:latin typeface="Calibri Light"/>
                <a:cs typeface="Calibri Light"/>
              </a:rPr>
              <a:t>WP5: Mixed-methods research on perceptions of novel vaccine technologies and conceptions of (vaccine induced) immunity: lessons for (flavivirus) risk communication </a:t>
            </a:r>
            <a:br>
              <a:rPr lang="en-US" sz="3000" b="1" dirty="0">
                <a:latin typeface="Calibri Light"/>
                <a:cs typeface="Calibri Light"/>
              </a:rPr>
            </a:br>
            <a:br>
              <a:rPr lang="en-US" sz="3000" b="1" dirty="0">
                <a:latin typeface="Calibri Light"/>
                <a:cs typeface="Calibri Light"/>
              </a:rPr>
            </a:br>
            <a:endParaRPr lang="en-US" sz="3000" b="1" dirty="0"/>
          </a:p>
        </p:txBody>
      </p:sp>
      <p:sp>
        <p:nvSpPr>
          <p:cNvPr id="3" name="Subtitle 2"/>
          <p:cNvSpPr>
            <a:spLocks noGrp="1"/>
          </p:cNvSpPr>
          <p:nvPr>
            <p:ph type="subTitle" idx="1"/>
          </p:nvPr>
        </p:nvSpPr>
        <p:spPr/>
        <p:txBody>
          <a:bodyPr vert="horz" lIns="91440" tIns="45720" rIns="91440" bIns="45720" rtlCol="0" anchor="t">
            <a:normAutofit/>
          </a:bodyPr>
          <a:lstStyle/>
          <a:p>
            <a:endParaRPr lang="en-US" sz="1800" dirty="0">
              <a:cs typeface="Calibri"/>
            </a:endParaRPr>
          </a:p>
          <a:p>
            <a:endParaRPr lang="en-US" sz="1800" dirty="0">
              <a:cs typeface="Calibri"/>
            </a:endParaRPr>
          </a:p>
          <a:p>
            <a:r>
              <a:rPr lang="en-US" sz="1800" dirty="0">
                <a:cs typeface="Calibri"/>
              </a:rPr>
              <a:t>Lead: Partner 10 (Charite); Participants: partner 11 (AIGHD); partner 07 (CIDEIM)</a:t>
            </a:r>
            <a:endParaRPr lang="en-US" dirty="0">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0FED1C-E242-DE3C-3D22-EABA125CCF4B}"/>
              </a:ext>
            </a:extLst>
          </p:cNvPr>
          <p:cNvSpPr txBox="1"/>
          <p:nvPr/>
        </p:nvSpPr>
        <p:spPr>
          <a:xfrm>
            <a:off x="1533064" y="1663085"/>
            <a:ext cx="9129622"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dirty="0">
                <a:ea typeface="+mn-lt"/>
                <a:cs typeface="+mn-lt"/>
              </a:rPr>
              <a:t>Objective 3 of the proposal:</a:t>
            </a:r>
            <a:r>
              <a:rPr lang="en-US" sz="2800" dirty="0">
                <a:ea typeface="+mn-lt"/>
                <a:cs typeface="+mn-lt"/>
              </a:rPr>
              <a:t> To develop effective risk communication strategies for novel vaccines, particularly for flaviviruses, that are informed by insights into the perceptions of new vaccine technologies and understanding of vaccine induced immunity in different populations (WP5). The aim is to examine the drivers of and barriers to vaccine uptake in contrasting case studies and develop broad lessons for the design of novel vaccination </a:t>
            </a:r>
            <a:r>
              <a:rPr lang="en-US" sz="2800" dirty="0" err="1">
                <a:ea typeface="+mn-lt"/>
                <a:cs typeface="+mn-lt"/>
              </a:rPr>
              <a:t>programmes</a:t>
            </a:r>
            <a:r>
              <a:rPr lang="en-US" sz="2800" dirty="0">
                <a:ea typeface="+mn-lt"/>
                <a:cs typeface="+mn-lt"/>
              </a:rPr>
              <a:t>.</a:t>
            </a:r>
            <a:endParaRPr lang="en-US">
              <a:cs typeface="Calibri" panose="020F0502020204030204"/>
            </a:endParaRPr>
          </a:p>
        </p:txBody>
      </p:sp>
    </p:spTree>
    <p:extLst>
      <p:ext uri="{BB962C8B-B14F-4D97-AF65-F5344CB8AC3E}">
        <p14:creationId xmlns:p14="http://schemas.microsoft.com/office/powerpoint/2010/main" val="96793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1528A4-39F6-F8F9-4C57-0A7D49484EB0}"/>
              </a:ext>
            </a:extLst>
          </p:cNvPr>
          <p:cNvSpPr txBox="1"/>
          <p:nvPr/>
        </p:nvSpPr>
        <p:spPr>
          <a:xfrm>
            <a:off x="891152" y="1575660"/>
            <a:ext cx="1026762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cs typeface="Calibri"/>
              </a:rPr>
              <a:t>Objectives of work package 5 (WP5): </a:t>
            </a:r>
          </a:p>
          <a:p>
            <a:endParaRPr lang="en-US" sz="2200" dirty="0">
              <a:cs typeface="Calibri"/>
            </a:endParaRPr>
          </a:p>
          <a:p>
            <a:pPr marL="342900" indent="-342900" algn="just">
              <a:buAutoNum type="arabicPeriod"/>
            </a:pPr>
            <a:r>
              <a:rPr lang="en-US" sz="2200" dirty="0">
                <a:ea typeface="+mn-lt"/>
                <a:cs typeface="+mn-lt"/>
              </a:rPr>
              <a:t>Deliver comparative insights into perceptions of novel vaccine technologies and conceptions of (vaccine-induced) immunity across the life-course in diverse population groups, and the role that these issues may play in uptake of vaccinations, particularly against flaviviruses</a:t>
            </a:r>
          </a:p>
          <a:p>
            <a:pPr marL="342900" indent="-342900" algn="just">
              <a:buAutoNum type="arabicPeriod"/>
            </a:pPr>
            <a:endParaRPr lang="en-US" sz="2200" dirty="0">
              <a:ea typeface="+mn-lt"/>
              <a:cs typeface="+mn-lt"/>
            </a:endParaRPr>
          </a:p>
          <a:p>
            <a:pPr marL="342900" indent="-342900" algn="just">
              <a:buAutoNum type="arabicPeriod"/>
            </a:pPr>
            <a:r>
              <a:rPr lang="en-US" sz="2200" dirty="0">
                <a:ea typeface="+mn-lt"/>
                <a:cs typeface="+mn-lt"/>
              </a:rPr>
              <a:t>Co-design and evaluate risk communication strategies attuned to the conceptions and perceptions of (vaccine-induced) immunity and novel vaccine technologies in different populations</a:t>
            </a:r>
            <a:endParaRPr lang="en-US" sz="2200">
              <a:cs typeface="Calibri" panose="020F0502020204030204"/>
            </a:endParaRPr>
          </a:p>
          <a:p>
            <a:pPr algn="just"/>
            <a:endParaRPr lang="en-US" sz="2200" dirty="0">
              <a:ea typeface="+mn-lt"/>
              <a:cs typeface="+mn-lt"/>
            </a:endParaRPr>
          </a:p>
          <a:p>
            <a:pPr marL="342900" indent="-342900" algn="just">
              <a:buAutoNum type="arabicPeriod"/>
            </a:pPr>
            <a:r>
              <a:rPr lang="en-US" sz="2200" dirty="0">
                <a:ea typeface="+mn-lt"/>
                <a:cs typeface="+mn-lt"/>
              </a:rPr>
              <a:t>Implement the most successful communication strategies in a public roll-out</a:t>
            </a:r>
            <a:endParaRPr lang="en-US" sz="2200" dirty="0">
              <a:cs typeface="Calibri" panose="020F0502020204030204"/>
            </a:endParaRPr>
          </a:p>
        </p:txBody>
      </p:sp>
    </p:spTree>
    <p:extLst>
      <p:ext uri="{BB962C8B-B14F-4D97-AF65-F5344CB8AC3E}">
        <p14:creationId xmlns:p14="http://schemas.microsoft.com/office/powerpoint/2010/main" val="706188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CB73E6-FB4D-8AFC-2E8C-4433698808B6}"/>
              </a:ext>
            </a:extLst>
          </p:cNvPr>
          <p:cNvSpPr txBox="1"/>
          <p:nvPr/>
        </p:nvSpPr>
        <p:spPr>
          <a:xfrm>
            <a:off x="819837" y="402618"/>
            <a:ext cx="10886785"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mn-lt"/>
              <a:cs typeface="+mn-lt"/>
            </a:endParaRPr>
          </a:p>
          <a:p>
            <a:endParaRPr lang="en-US" dirty="0">
              <a:cs typeface="Calibri"/>
            </a:endParaRPr>
          </a:p>
          <a:p>
            <a:r>
              <a:rPr lang="en-US" sz="2400" b="1" dirty="0">
                <a:ea typeface="+mn-lt"/>
                <a:cs typeface="+mn-lt"/>
              </a:rPr>
              <a:t>METHODOLOGY</a:t>
            </a:r>
          </a:p>
          <a:p>
            <a:pPr algn="just"/>
            <a:endParaRPr lang="en-US" sz="2000" dirty="0">
              <a:ea typeface="+mn-lt"/>
              <a:cs typeface="+mn-lt"/>
            </a:endParaRPr>
          </a:p>
          <a:p>
            <a:pPr marL="342900" indent="-342900" algn="just">
              <a:buFont typeface="Arial"/>
              <a:buChar char="•"/>
            </a:pPr>
            <a:r>
              <a:rPr lang="en-US" sz="2400" dirty="0">
                <a:ea typeface="+mn-lt"/>
                <a:cs typeface="+mn-lt"/>
              </a:rPr>
              <a:t>Mixed methods approach drawing on the social and cognitive sciences. </a:t>
            </a:r>
            <a:endParaRPr lang="en-US" sz="2400" dirty="0">
              <a:solidFill>
                <a:srgbClr val="000000"/>
              </a:solidFill>
              <a:ea typeface="+mn-lt"/>
              <a:cs typeface="+mn-lt"/>
            </a:endParaRPr>
          </a:p>
          <a:p>
            <a:pPr algn="just"/>
            <a:endParaRPr lang="en-US" sz="2400" dirty="0">
              <a:ea typeface="Calibri"/>
              <a:cs typeface="Calibri" panose="020F0502020204030204"/>
            </a:endParaRPr>
          </a:p>
          <a:p>
            <a:pPr marL="342900" indent="-342900" algn="just">
              <a:buFont typeface="Arial"/>
              <a:buChar char="•"/>
            </a:pPr>
            <a:r>
              <a:rPr lang="en-US" sz="2400" dirty="0">
                <a:ea typeface="+mn-lt"/>
                <a:cs typeface="+mn-lt"/>
              </a:rPr>
              <a:t>Stepwise approach, with a qualitative and explorative phase, followed by a quantitative and experimental phase. This approach enables us to garner in-depth insights and to test them in a wider population. </a:t>
            </a:r>
            <a:endParaRPr lang="en-US">
              <a:ea typeface="+mn-lt"/>
              <a:cs typeface="+mn-lt"/>
            </a:endParaRPr>
          </a:p>
          <a:p>
            <a:pPr algn="just"/>
            <a:endParaRPr lang="en-US" sz="2400" dirty="0">
              <a:ea typeface="+mn-lt"/>
              <a:cs typeface="+mn-lt"/>
            </a:endParaRPr>
          </a:p>
          <a:p>
            <a:pPr marL="342900" indent="-342900" algn="just">
              <a:buFont typeface="Arial"/>
              <a:buChar char="•"/>
            </a:pPr>
            <a:r>
              <a:rPr lang="en-US" sz="2400" dirty="0">
                <a:ea typeface="+mn-lt"/>
                <a:cs typeface="+mn-lt"/>
              </a:rPr>
              <a:t>The data collection will be conducted in Colombia and Germany. There will be a comparisons approach that will serve two purposes: 1. differentiate general problems and concerns from country-specific issues. 2. examine how flavivirus endemicities affects risk perceptions of disease and vaccine-related adverse events.</a:t>
            </a:r>
            <a:endParaRPr lang="en-US" sz="2400" dirty="0">
              <a:cs typeface="Calibri" panose="020F0502020204030204"/>
            </a:endParaRPr>
          </a:p>
        </p:txBody>
      </p:sp>
    </p:spTree>
    <p:extLst>
      <p:ext uri="{BB962C8B-B14F-4D97-AF65-F5344CB8AC3E}">
        <p14:creationId xmlns:p14="http://schemas.microsoft.com/office/powerpoint/2010/main" val="100160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9BF8A0-E7CB-7665-FF77-4123B13E3A30}"/>
              </a:ext>
            </a:extLst>
          </p:cNvPr>
          <p:cNvSpPr txBox="1"/>
          <p:nvPr/>
        </p:nvSpPr>
        <p:spPr>
          <a:xfrm>
            <a:off x="402400" y="518252"/>
            <a:ext cx="10512777"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ea typeface="+mn-lt"/>
                <a:cs typeface="+mn-lt"/>
              </a:rPr>
              <a:t>Task 5.1. Conceptions of (vaccine-induced) immunity and novel vaccine technologies – a qualitative study (M1-M24). </a:t>
            </a:r>
            <a:endParaRPr lang="en-US" sz="2000" b="1" dirty="0">
              <a:cs typeface="Calibri"/>
            </a:endParaRPr>
          </a:p>
          <a:p>
            <a:pPr algn="just"/>
            <a:endParaRPr lang="en-US" sz="2000" b="1" dirty="0">
              <a:ea typeface="+mn-lt"/>
              <a:cs typeface="+mn-lt"/>
            </a:endParaRPr>
          </a:p>
          <a:p>
            <a:pPr algn="just"/>
            <a:r>
              <a:rPr lang="en-US" sz="2000" dirty="0">
                <a:ea typeface="+mn-lt"/>
                <a:cs typeface="+mn-lt"/>
              </a:rPr>
              <a:t>Lead partner: AIGHD, Participants: CIDEIM, Charité</a:t>
            </a:r>
            <a:endParaRPr lang="en-US" sz="2000" dirty="0">
              <a:cs typeface="Calibri" panose="020F0502020204030204"/>
            </a:endParaRPr>
          </a:p>
          <a:p>
            <a:pPr algn="just"/>
            <a:endParaRPr lang="en-US" sz="2000" dirty="0">
              <a:ea typeface="+mn-lt"/>
              <a:cs typeface="+mn-lt"/>
            </a:endParaRPr>
          </a:p>
          <a:p>
            <a:pPr algn="just"/>
            <a:endParaRPr lang="en-US" sz="2000" b="1" dirty="0">
              <a:ea typeface="+mn-lt"/>
              <a:cs typeface="+mn-lt"/>
            </a:endParaRPr>
          </a:p>
          <a:p>
            <a:pPr algn="just"/>
            <a:r>
              <a:rPr lang="en-US" sz="2000" b="1" dirty="0">
                <a:ea typeface="+mn-lt"/>
                <a:cs typeface="+mn-lt"/>
              </a:rPr>
              <a:t>Methodology:</a:t>
            </a:r>
            <a:r>
              <a:rPr lang="en-US" sz="2000" dirty="0">
                <a:ea typeface="+mn-lt"/>
                <a:cs typeface="+mn-lt"/>
              </a:rPr>
              <a:t> A qualitative approach using interviews, focus groups, observations, and content analyses </a:t>
            </a:r>
            <a:endParaRPr lang="en-US">
              <a:ea typeface="+mn-lt"/>
              <a:cs typeface="+mn-lt"/>
            </a:endParaRPr>
          </a:p>
          <a:p>
            <a:pPr algn="just"/>
            <a:endParaRPr lang="en-US" sz="2000" dirty="0">
              <a:ea typeface="+mn-lt"/>
              <a:cs typeface="+mn-lt"/>
            </a:endParaRPr>
          </a:p>
          <a:p>
            <a:pPr algn="just"/>
            <a:r>
              <a:rPr lang="en-US" sz="2000" b="1" dirty="0">
                <a:ea typeface="+mn-lt"/>
                <a:cs typeface="+mn-lt"/>
              </a:rPr>
              <a:t>Participants recruitment: </a:t>
            </a:r>
            <a:r>
              <a:rPr lang="en-US" sz="2000" dirty="0">
                <a:ea typeface="+mn-lt"/>
                <a:cs typeface="+mn-lt"/>
              </a:rPr>
              <a:t>participants from the clinical studies of WP2 and participants selected through snowball sampling. The recruitment will continue until theoretical saturation is reached. </a:t>
            </a:r>
          </a:p>
          <a:p>
            <a:pPr algn="just"/>
            <a:endParaRPr lang="en-US" sz="2000" dirty="0">
              <a:ea typeface="+mn-lt"/>
              <a:cs typeface="+mn-lt"/>
            </a:endParaRPr>
          </a:p>
          <a:p>
            <a:pPr algn="just"/>
            <a:r>
              <a:rPr lang="en-US" sz="2000" b="1" dirty="0">
                <a:ea typeface="+mn-lt"/>
                <a:cs typeface="+mn-lt"/>
              </a:rPr>
              <a:t>Objectives: </a:t>
            </a:r>
            <a:r>
              <a:rPr lang="en-US" sz="2000" dirty="0">
                <a:ea typeface="+mn-lt"/>
                <a:cs typeface="+mn-lt"/>
              </a:rPr>
              <a:t>to garner in-depth insights into 1) </a:t>
            </a:r>
            <a:r>
              <a:rPr lang="en-US" sz="2000" b="1" dirty="0">
                <a:ea typeface="+mn-lt"/>
                <a:cs typeface="+mn-lt"/>
              </a:rPr>
              <a:t>understandings of (vaccine-induced) immunity </a:t>
            </a:r>
            <a:r>
              <a:rPr lang="en-US" sz="2000" dirty="0">
                <a:ea typeface="+mn-lt"/>
                <a:cs typeface="+mn-lt"/>
              </a:rPr>
              <a:t>across age groups, and 2) </a:t>
            </a:r>
            <a:r>
              <a:rPr lang="en-US" sz="2000" b="1" dirty="0">
                <a:ea typeface="+mn-lt"/>
                <a:cs typeface="+mn-lt"/>
              </a:rPr>
              <a:t>ideas about new vaccine technologies</a:t>
            </a:r>
            <a:r>
              <a:rPr lang="en-US" sz="2000" dirty="0">
                <a:ea typeface="+mn-lt"/>
                <a:cs typeface="+mn-lt"/>
              </a:rPr>
              <a:t> in flavivirus endemic and non-endemic countries (Latin America and Europe). In particular, we seek to understand</a:t>
            </a:r>
            <a:r>
              <a:rPr lang="en-US" sz="2000" b="1" dirty="0">
                <a:ea typeface="+mn-lt"/>
                <a:cs typeface="+mn-lt"/>
              </a:rPr>
              <a:t> how trust in and uptake of vaccines is related to these conceptions</a:t>
            </a:r>
            <a:r>
              <a:rPr lang="en-US" sz="2000" dirty="0">
                <a:ea typeface="+mn-lt"/>
                <a:cs typeface="+mn-lt"/>
              </a:rPr>
              <a:t> and </a:t>
            </a:r>
            <a:r>
              <a:rPr lang="en-US" sz="2000" b="1" dirty="0">
                <a:ea typeface="+mn-lt"/>
                <a:cs typeface="+mn-lt"/>
              </a:rPr>
              <a:t>identify information sources</a:t>
            </a:r>
            <a:r>
              <a:rPr lang="en-US" sz="2000" dirty="0">
                <a:ea typeface="+mn-lt"/>
                <a:cs typeface="+mn-lt"/>
              </a:rPr>
              <a:t>—both conventional and digital—relevant to vaccine-related conceptions. </a:t>
            </a:r>
            <a:endParaRPr lang="en-US">
              <a:cs typeface="Calibri"/>
            </a:endParaRPr>
          </a:p>
        </p:txBody>
      </p:sp>
    </p:spTree>
    <p:extLst>
      <p:ext uri="{BB962C8B-B14F-4D97-AF65-F5344CB8AC3E}">
        <p14:creationId xmlns:p14="http://schemas.microsoft.com/office/powerpoint/2010/main" val="4180722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D410E4-15FB-CDB7-99CA-BC3A9B8E821E}"/>
              </a:ext>
            </a:extLst>
          </p:cNvPr>
          <p:cNvSpPr txBox="1"/>
          <p:nvPr/>
        </p:nvSpPr>
        <p:spPr>
          <a:xfrm>
            <a:off x="602911" y="325991"/>
            <a:ext cx="11282162"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Task 5.2. Prevalence of knowledge and acceptance of novel vaccine technologies and perceived barriers to</a:t>
            </a:r>
            <a:endParaRPr lang="en-US" b="1">
              <a:cs typeface="Calibri"/>
            </a:endParaRPr>
          </a:p>
          <a:p>
            <a:r>
              <a:rPr lang="en-US" b="1" dirty="0">
                <a:ea typeface="+mn-lt"/>
                <a:cs typeface="+mn-lt"/>
              </a:rPr>
              <a:t>vaccination, preparedness uptake and in cross-cultural comparison (M12-M36). </a:t>
            </a:r>
          </a:p>
          <a:p>
            <a:r>
              <a:rPr lang="en-US" dirty="0">
                <a:ea typeface="+mn-lt"/>
                <a:cs typeface="+mn-lt"/>
              </a:rPr>
              <a:t>Lead partner: Charité, Participants: AIGHD, CIDEIM</a:t>
            </a:r>
            <a:endParaRPr lang="en-US" dirty="0"/>
          </a:p>
          <a:p>
            <a:pPr algn="just"/>
            <a:endParaRPr lang="en-US" dirty="0">
              <a:ea typeface="+mn-lt"/>
              <a:cs typeface="+mn-lt"/>
            </a:endParaRPr>
          </a:p>
          <a:p>
            <a:pPr algn="just"/>
            <a:r>
              <a:rPr lang="en-US" b="1" dirty="0">
                <a:ea typeface="+mn-lt"/>
                <a:cs typeface="+mn-lt"/>
              </a:rPr>
              <a:t>Methodology: </a:t>
            </a:r>
            <a:r>
              <a:rPr lang="en-US" dirty="0">
                <a:ea typeface="+mn-lt"/>
                <a:cs typeface="+mn-lt"/>
              </a:rPr>
              <a:t>Representative sampling techniques will be used in a quantitative cross-sectional questionnaire study. A cross-cultural comparisons approach will be implemented. </a:t>
            </a:r>
          </a:p>
          <a:p>
            <a:pPr algn="just"/>
            <a:endParaRPr lang="en-US" dirty="0">
              <a:ea typeface="+mn-lt"/>
              <a:cs typeface="+mn-lt"/>
            </a:endParaRPr>
          </a:p>
          <a:p>
            <a:pPr algn="just"/>
            <a:r>
              <a:rPr lang="en-US" b="1" dirty="0">
                <a:ea typeface="+mn-lt"/>
                <a:cs typeface="+mn-lt"/>
              </a:rPr>
              <a:t>Participant recruitment: </a:t>
            </a:r>
            <a:r>
              <a:rPr lang="en-US" dirty="0">
                <a:ea typeface="+mn-lt"/>
                <a:cs typeface="+mn-lt"/>
              </a:rPr>
              <a:t>Power-analyses indicate that a sample of 1050 per country should be sufficient to reveal relevant small effects. A polling institute will be commissioned to recruit participants and implement the online survey. </a:t>
            </a:r>
          </a:p>
          <a:p>
            <a:pPr marL="285750" indent="-285750" algn="just">
              <a:buFont typeface="Arial"/>
              <a:buChar char="•"/>
            </a:pPr>
            <a:endParaRPr lang="en-US" dirty="0">
              <a:ea typeface="+mn-lt"/>
              <a:cs typeface="+mn-lt"/>
            </a:endParaRPr>
          </a:p>
          <a:p>
            <a:pPr algn="just"/>
            <a:r>
              <a:rPr lang="en-US" b="1" dirty="0">
                <a:ea typeface="+mn-lt"/>
                <a:cs typeface="+mn-lt"/>
              </a:rPr>
              <a:t>Objectives: </a:t>
            </a:r>
          </a:p>
          <a:p>
            <a:pPr marL="285750" indent="-285750" algn="just">
              <a:buFont typeface="Arial"/>
              <a:buChar char="•"/>
            </a:pPr>
            <a:r>
              <a:rPr lang="en-US" dirty="0">
                <a:ea typeface="+mn-lt"/>
                <a:cs typeface="+mn-lt"/>
              </a:rPr>
              <a:t>To assess and compare the </a:t>
            </a:r>
            <a:r>
              <a:rPr lang="en-US" b="1" dirty="0">
                <a:ea typeface="+mn-lt"/>
                <a:cs typeface="+mn-lt"/>
              </a:rPr>
              <a:t>prevalence of knowledge </a:t>
            </a:r>
            <a:r>
              <a:rPr lang="en-US" dirty="0">
                <a:ea typeface="+mn-lt"/>
                <a:cs typeface="+mn-lt"/>
              </a:rPr>
              <a:t>and </a:t>
            </a:r>
            <a:r>
              <a:rPr lang="en-US" b="1" dirty="0">
                <a:ea typeface="+mn-lt"/>
                <a:cs typeface="+mn-lt"/>
              </a:rPr>
              <a:t>acceptance of potential novel </a:t>
            </a:r>
            <a:r>
              <a:rPr lang="en-US" dirty="0">
                <a:ea typeface="+mn-lt"/>
                <a:cs typeface="+mn-lt"/>
              </a:rPr>
              <a:t>(flavivirus) </a:t>
            </a:r>
            <a:r>
              <a:rPr lang="en-US" b="1" dirty="0">
                <a:ea typeface="+mn-lt"/>
                <a:cs typeface="+mn-lt"/>
              </a:rPr>
              <a:t>vaccine technologies</a:t>
            </a:r>
            <a:r>
              <a:rPr lang="en-US" dirty="0">
                <a:ea typeface="+mn-lt"/>
                <a:cs typeface="+mn-lt"/>
              </a:rPr>
              <a:t> and </a:t>
            </a:r>
            <a:r>
              <a:rPr lang="en-US" b="1" dirty="0">
                <a:ea typeface="+mn-lt"/>
                <a:cs typeface="+mn-lt"/>
              </a:rPr>
              <a:t>perceived barriers to vaccine uptake</a:t>
            </a:r>
            <a:r>
              <a:rPr lang="en-US" dirty="0">
                <a:ea typeface="+mn-lt"/>
                <a:cs typeface="+mn-lt"/>
              </a:rPr>
              <a:t> identified in Task 5.1 in both Latin American and European countries. </a:t>
            </a:r>
            <a:endParaRPr lang="en-US">
              <a:cs typeface="Calibri"/>
            </a:endParaRPr>
          </a:p>
          <a:p>
            <a:pPr marL="285750" indent="-285750" algn="just">
              <a:buFont typeface="Arial"/>
              <a:buChar char="•"/>
            </a:pPr>
            <a:endParaRPr lang="en-US" dirty="0">
              <a:ea typeface="+mn-lt"/>
              <a:cs typeface="+mn-lt"/>
            </a:endParaRPr>
          </a:p>
          <a:p>
            <a:pPr marL="285750" indent="-285750" algn="just">
              <a:buFont typeface="Arial"/>
              <a:buChar char="•"/>
            </a:pPr>
            <a:r>
              <a:rPr lang="en-US" dirty="0">
                <a:ea typeface="+mn-lt"/>
                <a:cs typeface="+mn-lt"/>
              </a:rPr>
              <a:t>To  identify </a:t>
            </a:r>
            <a:r>
              <a:rPr lang="en-US" b="1" dirty="0">
                <a:ea typeface="+mn-lt"/>
                <a:cs typeface="+mn-lt"/>
              </a:rPr>
              <a:t>demographic risk factors for low knowledge</a:t>
            </a:r>
            <a:r>
              <a:rPr lang="en-US" dirty="0">
                <a:ea typeface="+mn-lt"/>
                <a:cs typeface="+mn-lt"/>
              </a:rPr>
              <a:t> on vaccines and unjustified anti-vaccination resentments as markers for vulnerable subpopulations that could benefit the most from risk communication interventions. </a:t>
            </a:r>
            <a:endParaRPr lang="en-US">
              <a:ea typeface="+mn-lt"/>
              <a:cs typeface="+mn-lt"/>
            </a:endParaRPr>
          </a:p>
          <a:p>
            <a:pPr marL="285750" indent="-285750" algn="just">
              <a:buFont typeface="Arial"/>
              <a:buChar char="•"/>
            </a:pPr>
            <a:endParaRPr lang="en-US" dirty="0">
              <a:ea typeface="+mn-lt"/>
              <a:cs typeface="+mn-lt"/>
            </a:endParaRPr>
          </a:p>
          <a:p>
            <a:pPr marL="285750" indent="-285750" algn="just">
              <a:buFont typeface="Arial"/>
              <a:buChar char="•"/>
            </a:pPr>
            <a:r>
              <a:rPr lang="en-US" dirty="0">
                <a:ea typeface="+mn-lt"/>
                <a:cs typeface="+mn-lt"/>
              </a:rPr>
              <a:t>To evaluate how the endemic status of a flavivirus disease affects the tallying of risks and benefits of a respective, potential vaccine and thus may help to project how new vaccines could be accepted relative to the exposure to the disease. </a:t>
            </a:r>
            <a:endParaRPr lang="en-US">
              <a:cs typeface="Calibri"/>
            </a:endParaRPr>
          </a:p>
          <a:p>
            <a:pPr marL="285750" indent="-285750">
              <a:buFont typeface="Arial"/>
              <a:buChar char="•"/>
            </a:pPr>
            <a:endParaRPr lang="en-US" dirty="0">
              <a:ea typeface="+mn-lt"/>
              <a:cs typeface="+mn-lt"/>
            </a:endParaRPr>
          </a:p>
          <a:p>
            <a:pPr marL="285750" indent="-285750">
              <a:buFont typeface="Arial"/>
              <a:buChar char="•"/>
            </a:pPr>
            <a:endParaRPr lang="en-US" dirty="0">
              <a:cs typeface="Calibri" panose="020F0502020204030204"/>
            </a:endParaRPr>
          </a:p>
        </p:txBody>
      </p:sp>
    </p:spTree>
    <p:extLst>
      <p:ext uri="{BB962C8B-B14F-4D97-AF65-F5344CB8AC3E}">
        <p14:creationId xmlns:p14="http://schemas.microsoft.com/office/powerpoint/2010/main" val="101792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D4CF8A-CC2A-2402-06C1-62FDF869C7EF}"/>
              </a:ext>
            </a:extLst>
          </p:cNvPr>
          <p:cNvSpPr txBox="1"/>
          <p:nvPr/>
        </p:nvSpPr>
        <p:spPr>
          <a:xfrm>
            <a:off x="796692" y="470390"/>
            <a:ext cx="10835527"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Task 5.3. Theory-based experimental communication intervention to increase vaccination education and</a:t>
            </a:r>
            <a:endParaRPr lang="en-US" b="1">
              <a:cs typeface="Calibri"/>
            </a:endParaRPr>
          </a:p>
          <a:p>
            <a:r>
              <a:rPr lang="en-US" b="1" dirty="0">
                <a:ea typeface="+mn-lt"/>
                <a:cs typeface="+mn-lt"/>
              </a:rPr>
              <a:t>acceptance, in particular in vulnerable subpopulations (M30-M48). </a:t>
            </a:r>
          </a:p>
          <a:p>
            <a:r>
              <a:rPr lang="en-US" dirty="0">
                <a:ea typeface="+mn-lt"/>
                <a:cs typeface="+mn-lt"/>
              </a:rPr>
              <a:t>Lead partner: Charité, Participants: AIGHD, CIDEIM</a:t>
            </a:r>
            <a:endParaRPr lang="en-US" dirty="0">
              <a:cs typeface="Calibri"/>
            </a:endParaRPr>
          </a:p>
          <a:p>
            <a:endParaRPr lang="en-US" dirty="0">
              <a:ea typeface="+mn-lt"/>
              <a:cs typeface="+mn-lt"/>
            </a:endParaRPr>
          </a:p>
          <a:p>
            <a:pPr algn="just"/>
            <a:r>
              <a:rPr lang="en-US" b="1" dirty="0">
                <a:ea typeface="+mn-lt"/>
                <a:cs typeface="+mn-lt"/>
              </a:rPr>
              <a:t>Methodology:</a:t>
            </a:r>
            <a:r>
              <a:rPr lang="en-US" dirty="0">
                <a:ea typeface="+mn-lt"/>
                <a:cs typeface="+mn-lt"/>
              </a:rPr>
              <a:t> Interventional risk communication materials will be co-designed to target specific perceived barriers to vaccination identified in Task 5.1 and 5.2  in an iterative, participatory, mixed-method process. The materials will also take into account all vaccine knowledge generated in the other WPs.  An  experimental RCT study design will take place to evaluate the materials. </a:t>
            </a:r>
          </a:p>
          <a:p>
            <a:pPr algn="just"/>
            <a:endParaRPr lang="en-US" dirty="0">
              <a:ea typeface="+mn-lt"/>
              <a:cs typeface="+mn-lt"/>
            </a:endParaRPr>
          </a:p>
          <a:p>
            <a:pPr algn="just"/>
            <a:r>
              <a:rPr lang="en-US" b="1" dirty="0">
                <a:ea typeface="+mn-lt"/>
                <a:cs typeface="+mn-lt"/>
              </a:rPr>
              <a:t>Participant recruitment: </a:t>
            </a:r>
            <a:r>
              <a:rPr lang="en-US" dirty="0">
                <a:ea typeface="+mn-lt"/>
                <a:cs typeface="+mn-lt"/>
              </a:rPr>
              <a:t>Power-analyses indicate that a sample of 1050 per country should be sufficient. The recruitment of a population-representative sample will again be commissioned to a polling institute.  </a:t>
            </a:r>
          </a:p>
          <a:p>
            <a:pPr marL="285750" indent="-285750">
              <a:buFont typeface="Arial"/>
              <a:buChar char="•"/>
            </a:pPr>
            <a:endParaRPr lang="en-US" dirty="0">
              <a:ea typeface="+mn-lt"/>
              <a:cs typeface="+mn-lt"/>
            </a:endParaRPr>
          </a:p>
          <a:p>
            <a:pPr algn="just"/>
            <a:r>
              <a:rPr lang="en-US" b="1" dirty="0">
                <a:ea typeface="+mn-lt"/>
                <a:cs typeface="+mn-lt"/>
              </a:rPr>
              <a:t>Objectives: </a:t>
            </a:r>
          </a:p>
          <a:p>
            <a:pPr algn="just"/>
            <a:endParaRPr lang="en-US" dirty="0">
              <a:ea typeface="+mn-lt"/>
              <a:cs typeface="+mn-lt"/>
            </a:endParaRPr>
          </a:p>
          <a:p>
            <a:pPr marL="285750" indent="-285750" algn="just">
              <a:buFont typeface="Arial"/>
              <a:buChar char="•"/>
            </a:pPr>
            <a:r>
              <a:rPr lang="en-US" dirty="0">
                <a:ea typeface="+mn-lt"/>
                <a:cs typeface="+mn-lt"/>
              </a:rPr>
              <a:t>To evaluate the relative effectiveness of the developed materials and strategies for </a:t>
            </a:r>
            <a:r>
              <a:rPr lang="en-US" b="1" dirty="0">
                <a:ea typeface="+mn-lt"/>
                <a:cs typeface="+mn-lt"/>
              </a:rPr>
              <a:t>increasing knowledge on vaccination and vaccination acceptance</a:t>
            </a:r>
            <a:r>
              <a:rPr lang="en-US" dirty="0">
                <a:ea typeface="+mn-lt"/>
                <a:cs typeface="+mn-lt"/>
              </a:rPr>
              <a:t> in an experimental RCT study design in both South American and European contexts. </a:t>
            </a:r>
            <a:endParaRPr lang="en-US"/>
          </a:p>
          <a:p>
            <a:pPr marL="285750" indent="-285750" algn="just">
              <a:buFont typeface="Arial"/>
              <a:buChar char="•"/>
            </a:pPr>
            <a:endParaRPr lang="en-US" dirty="0">
              <a:ea typeface="+mn-lt"/>
              <a:cs typeface="+mn-lt"/>
            </a:endParaRPr>
          </a:p>
          <a:p>
            <a:pPr marL="285750" indent="-285750" algn="just">
              <a:buFont typeface="Arial"/>
              <a:buChar char="•"/>
            </a:pPr>
            <a:r>
              <a:rPr lang="en-US" dirty="0">
                <a:ea typeface="+mn-lt"/>
                <a:cs typeface="+mn-lt"/>
              </a:rPr>
              <a:t>To evaluate the materials’ specific success in </a:t>
            </a:r>
            <a:r>
              <a:rPr lang="en-US" b="1" dirty="0">
                <a:ea typeface="+mn-lt"/>
                <a:cs typeface="+mn-lt"/>
              </a:rPr>
              <a:t>improving vaccine knowledge and acceptance in vulnerable subpopulations</a:t>
            </a:r>
            <a:r>
              <a:rPr lang="en-US" dirty="0">
                <a:ea typeface="+mn-lt"/>
                <a:cs typeface="+mn-lt"/>
              </a:rPr>
              <a:t> (e.g. endemic regions, groups with strong anti-vaccination resentments and low vaccination rates). </a:t>
            </a:r>
            <a:endParaRPr lang="en-US">
              <a:cs typeface="Calibri"/>
            </a:endParaRPr>
          </a:p>
          <a:p>
            <a:pPr algn="just"/>
            <a:endParaRPr lang="en-US" dirty="0">
              <a:ea typeface="+mn-lt"/>
              <a:cs typeface="+mn-lt"/>
            </a:endParaRPr>
          </a:p>
          <a:p>
            <a:pPr algn="just"/>
            <a:endParaRPr lang="en-US" dirty="0">
              <a:cs typeface="Calibri"/>
            </a:endParaRPr>
          </a:p>
        </p:txBody>
      </p:sp>
    </p:spTree>
    <p:extLst>
      <p:ext uri="{BB962C8B-B14F-4D97-AF65-F5344CB8AC3E}">
        <p14:creationId xmlns:p14="http://schemas.microsoft.com/office/powerpoint/2010/main" val="3845337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D75286-CC56-C78C-420F-CF07801954B9}"/>
              </a:ext>
            </a:extLst>
          </p:cNvPr>
          <p:cNvSpPr txBox="1"/>
          <p:nvPr/>
        </p:nvSpPr>
        <p:spPr>
          <a:xfrm>
            <a:off x="1269895" y="663233"/>
            <a:ext cx="964095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dirty="0">
                <a:ea typeface="+mn-lt"/>
                <a:cs typeface="+mn-lt"/>
              </a:rPr>
              <a:t>Task 5.4. Public roll-out of vaccine risk communication materials and strategies (M33-M48). </a:t>
            </a:r>
          </a:p>
          <a:p>
            <a:pPr algn="just"/>
            <a:endParaRPr lang="en-US" sz="2400" b="1" dirty="0">
              <a:ea typeface="+mn-lt"/>
              <a:cs typeface="+mn-lt"/>
            </a:endParaRPr>
          </a:p>
          <a:p>
            <a:pPr algn="just"/>
            <a:r>
              <a:rPr lang="en-US" sz="2400" dirty="0">
                <a:ea typeface="+mn-lt"/>
                <a:cs typeface="+mn-lt"/>
              </a:rPr>
              <a:t>Lead partner: Charité, Participants: AIGHD, CIDEIM</a:t>
            </a:r>
            <a:endParaRPr lang="en-US" sz="2400">
              <a:cs typeface="Calibri"/>
            </a:endParaRPr>
          </a:p>
          <a:p>
            <a:pPr algn="just"/>
            <a:endParaRPr lang="en-US" sz="2400" dirty="0">
              <a:ea typeface="+mn-lt"/>
              <a:cs typeface="+mn-lt"/>
            </a:endParaRPr>
          </a:p>
          <a:p>
            <a:pPr marL="285750" indent="-285750" algn="just">
              <a:buFont typeface="Arial"/>
              <a:buChar char="•"/>
            </a:pPr>
            <a:r>
              <a:rPr lang="en-US" sz="2400" dirty="0">
                <a:ea typeface="+mn-lt"/>
                <a:cs typeface="+mn-lt"/>
              </a:rPr>
              <a:t>The developed and evaluated materials will be disseminated in a country-specific public roll-out (D 5.4). </a:t>
            </a:r>
          </a:p>
          <a:p>
            <a:pPr marL="285750" indent="-285750" algn="just">
              <a:buFont typeface="Arial"/>
              <a:buChar char="•"/>
            </a:pPr>
            <a:r>
              <a:rPr lang="en-US" sz="2400" dirty="0">
                <a:ea typeface="+mn-lt"/>
                <a:cs typeface="+mn-lt"/>
              </a:rPr>
              <a:t>Given the results of 5.3, the provision of materials may be tailored to specific subpopulations to maximize both education and vaccine acceptance. </a:t>
            </a:r>
          </a:p>
          <a:p>
            <a:pPr marL="285750" indent="-285750" algn="just">
              <a:buFont typeface="Arial"/>
              <a:buChar char="•"/>
            </a:pPr>
            <a:r>
              <a:rPr lang="en-US" sz="2400" dirty="0">
                <a:ea typeface="+mn-lt"/>
                <a:cs typeface="+mn-lt"/>
              </a:rPr>
              <a:t>A supplementing scientific report informed by the results will provide guidance  to public health policy makers and science communicators of the other WPs. </a:t>
            </a:r>
          </a:p>
          <a:p>
            <a:pPr marL="285750" indent="-285750" algn="just">
              <a:buFont typeface="Arial"/>
              <a:buChar char="•"/>
            </a:pPr>
            <a:r>
              <a:rPr lang="en-US" sz="2400" dirty="0">
                <a:ea typeface="+mn-lt"/>
                <a:cs typeface="+mn-lt"/>
              </a:rPr>
              <a:t>Knowledge will be contributed to the more general communication strategy at WP6.</a:t>
            </a:r>
            <a:endParaRPr lang="en-US" sz="2000">
              <a:cs typeface="Calibri"/>
            </a:endParaRPr>
          </a:p>
        </p:txBody>
      </p:sp>
    </p:spTree>
    <p:extLst>
      <p:ext uri="{BB962C8B-B14F-4D97-AF65-F5344CB8AC3E}">
        <p14:creationId xmlns:p14="http://schemas.microsoft.com/office/powerpoint/2010/main" val="3664941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AEA50A0-B9A4-DF6B-D170-CBFE67D37AEA}"/>
              </a:ext>
            </a:extLst>
          </p:cNvPr>
          <p:cNvGraphicFramePr>
            <a:graphicFrameLocks noGrp="1"/>
          </p:cNvGraphicFramePr>
          <p:nvPr>
            <p:extLst>
              <p:ext uri="{D42A27DB-BD31-4B8C-83A1-F6EECF244321}">
                <p14:modId xmlns:p14="http://schemas.microsoft.com/office/powerpoint/2010/main" val="2873520958"/>
              </p:ext>
            </p:extLst>
          </p:nvPr>
        </p:nvGraphicFramePr>
        <p:xfrm>
          <a:off x="1207698" y="718867"/>
          <a:ext cx="9758984" cy="5318760"/>
        </p:xfrm>
        <a:graphic>
          <a:graphicData uri="http://schemas.openxmlformats.org/drawingml/2006/table">
            <a:tbl>
              <a:tblPr firstRow="1" bandRow="1">
                <a:tableStyleId>{8799B23B-EC83-4686-B30A-512413B5E67A}</a:tableStyleId>
              </a:tblPr>
              <a:tblGrid>
                <a:gridCol w="4879492">
                  <a:extLst>
                    <a:ext uri="{9D8B030D-6E8A-4147-A177-3AD203B41FA5}">
                      <a16:colId xmlns:a16="http://schemas.microsoft.com/office/drawing/2014/main" val="1149595555"/>
                    </a:ext>
                  </a:extLst>
                </a:gridCol>
                <a:gridCol w="4879492">
                  <a:extLst>
                    <a:ext uri="{9D8B030D-6E8A-4147-A177-3AD203B41FA5}">
                      <a16:colId xmlns:a16="http://schemas.microsoft.com/office/drawing/2014/main" val="336120137"/>
                    </a:ext>
                  </a:extLst>
                </a:gridCol>
              </a:tblGrid>
              <a:tr h="381000">
                <a:tc>
                  <a:txBody>
                    <a:bodyPr/>
                    <a:lstStyle/>
                    <a:p>
                      <a:r>
                        <a:rPr lang="en-US" dirty="0"/>
                        <a:t>Task </a:t>
                      </a:r>
                    </a:p>
                  </a:txBody>
                  <a:tcPr/>
                </a:tc>
                <a:tc>
                  <a:txBody>
                    <a:bodyPr/>
                    <a:lstStyle/>
                    <a:p>
                      <a:r>
                        <a:rPr lang="en-US" dirty="0"/>
                        <a:t>Activities </a:t>
                      </a:r>
                    </a:p>
                  </a:txBody>
                  <a:tcPr/>
                </a:tc>
                <a:extLst>
                  <a:ext uri="{0D108BD9-81ED-4DB2-BD59-A6C34878D82A}">
                    <a16:rowId xmlns:a16="http://schemas.microsoft.com/office/drawing/2014/main" val="1467372091"/>
                  </a:ext>
                </a:extLst>
              </a:tr>
              <a:tr h="370840">
                <a:tc>
                  <a:txBody>
                    <a:bodyPr/>
                    <a:lstStyle/>
                    <a:p>
                      <a:pPr lvl="0">
                        <a:buNone/>
                      </a:pPr>
                      <a:r>
                        <a:rPr lang="en-US" sz="2000" u="none" strike="noStrike" noProof="0" dirty="0">
                          <a:solidFill>
                            <a:srgbClr val="000000"/>
                          </a:solidFill>
                        </a:rPr>
                        <a:t>Task 5.1. Conceptions of (vaccine-induced) immunity and novel vaccine technologies – a qualitative study (M1-M24)</a:t>
                      </a:r>
                      <a:endParaRPr lang="en-US"/>
                    </a:p>
                  </a:txBody>
                  <a:tcPr/>
                </a:tc>
                <a:tc>
                  <a:txBody>
                    <a:bodyPr/>
                    <a:lstStyle/>
                    <a:p>
                      <a:pPr marL="285750" lvl="0" indent="-285750" algn="l">
                        <a:lnSpc>
                          <a:spcPct val="100000"/>
                        </a:lnSpc>
                        <a:buFont typeface="Arial"/>
                        <a:buChar char="•"/>
                      </a:pPr>
                      <a:r>
                        <a:rPr lang="en-US" sz="1800" b="0" i="0" u="none" strike="noStrike" baseline="0" noProof="0">
                          <a:solidFill>
                            <a:srgbClr val="000000"/>
                          </a:solidFill>
                          <a:latin typeface="Calibri"/>
                        </a:rPr>
                        <a:t> Conduct the qualitative study in Colombia</a:t>
                      </a:r>
                      <a:endParaRPr lang="en-US"/>
                    </a:p>
                    <a:p>
                      <a:pPr lvl="0">
                        <a:buNone/>
                      </a:pPr>
                      <a:endParaRPr lang="en-US" dirty="0"/>
                    </a:p>
                  </a:txBody>
                  <a:tcPr/>
                </a:tc>
                <a:extLst>
                  <a:ext uri="{0D108BD9-81ED-4DB2-BD59-A6C34878D82A}">
                    <a16:rowId xmlns:a16="http://schemas.microsoft.com/office/drawing/2014/main" val="3288063516"/>
                  </a:ext>
                </a:extLst>
              </a:tr>
              <a:tr h="370840">
                <a:tc>
                  <a:txBody>
                    <a:bodyPr/>
                    <a:lstStyle/>
                    <a:p>
                      <a:pPr marL="0" marR="0" lvl="0" indent="0" algn="l">
                        <a:lnSpc>
                          <a:spcPct val="100000"/>
                        </a:lnSpc>
                        <a:spcBef>
                          <a:spcPts val="0"/>
                        </a:spcBef>
                        <a:spcAft>
                          <a:spcPts val="0"/>
                        </a:spcAft>
                        <a:buNone/>
                      </a:pPr>
                      <a:r>
                        <a:rPr lang="en-US" sz="1800" b="0" i="0" u="none" strike="noStrike" noProof="0" dirty="0">
                          <a:solidFill>
                            <a:srgbClr val="000000"/>
                          </a:solidFill>
                          <a:latin typeface="Calibri"/>
                        </a:rPr>
                        <a:t>Task 5.2. Prevalence of knowledge and acceptance of novel vaccine technologies and perceived barriers to vaccination, preparedness uptake</a:t>
                      </a:r>
                      <a:r>
                        <a:rPr lang="en-US" sz="1800" b="1" i="0" u="none" strike="noStrike" noProof="0" dirty="0">
                          <a:solidFill>
                            <a:srgbClr val="000000"/>
                          </a:solidFill>
                          <a:latin typeface="Calibri"/>
                        </a:rPr>
                        <a:t> </a:t>
                      </a:r>
                      <a:r>
                        <a:rPr lang="en-US" sz="1800" b="0" i="0" u="none" strike="noStrike" noProof="0" dirty="0">
                          <a:solidFill>
                            <a:srgbClr val="000000"/>
                          </a:solidFill>
                          <a:latin typeface="Calibri"/>
                        </a:rPr>
                        <a:t>and in cross-cultural comparison (M12-M36). </a:t>
                      </a:r>
                      <a:endParaRPr lang="en-US" b="0"/>
                    </a:p>
                  </a:txBody>
                  <a:tcPr/>
                </a:tc>
                <a:tc>
                  <a:txBody>
                    <a:bodyPr/>
                    <a:lstStyle/>
                    <a:p>
                      <a:pPr marL="285750" lvl="0" indent="-285750" algn="l">
                        <a:lnSpc>
                          <a:spcPct val="100000"/>
                        </a:lnSpc>
                        <a:buFont typeface="Arial"/>
                        <a:buChar char="•"/>
                      </a:pPr>
                      <a:r>
                        <a:rPr lang="en-US" sz="1800" b="0" i="0" u="none" strike="noStrike" baseline="0" noProof="0" dirty="0">
                          <a:solidFill>
                            <a:srgbClr val="000000"/>
                          </a:solidFill>
                          <a:latin typeface="Calibri"/>
                        </a:rPr>
                        <a:t>Help to determine the feasibility of sampling in </a:t>
                      </a:r>
                      <a:r>
                        <a:rPr lang="en-US" sz="1800" b="0" i="0" u="none" strike="noStrike" baseline="0" noProof="0">
                          <a:solidFill>
                            <a:srgbClr val="000000"/>
                          </a:solidFill>
                          <a:latin typeface="Calibri"/>
                        </a:rPr>
                        <a:t>Colombia</a:t>
                      </a:r>
                      <a:endParaRPr lang="en-US" dirty="0"/>
                    </a:p>
                    <a:p>
                      <a:pPr marL="285750" lvl="0" indent="-285750" algn="l">
                        <a:lnSpc>
                          <a:spcPct val="100000"/>
                        </a:lnSpc>
                        <a:buFont typeface="Arial"/>
                        <a:buChar char="•"/>
                      </a:pPr>
                      <a:r>
                        <a:rPr lang="en-US" sz="1800" b="0" i="0" u="none" strike="noStrike" baseline="0" noProof="0">
                          <a:solidFill>
                            <a:srgbClr val="000000"/>
                          </a:solidFill>
                          <a:latin typeface="Calibri"/>
                        </a:rPr>
                        <a:t>Give feedback on the questionnaire </a:t>
                      </a:r>
                      <a:endParaRPr lang="en-US"/>
                    </a:p>
                    <a:p>
                      <a:pPr marL="285750" lvl="0" indent="-285750" algn="l">
                        <a:lnSpc>
                          <a:spcPct val="100000"/>
                        </a:lnSpc>
                        <a:buFont typeface="Arial"/>
                        <a:buChar char="•"/>
                      </a:pPr>
                      <a:r>
                        <a:rPr lang="en-US" sz="1800" b="0" i="0" u="none" strike="noStrike" baseline="0" noProof="0" dirty="0">
                          <a:solidFill>
                            <a:srgbClr val="000000"/>
                          </a:solidFill>
                          <a:latin typeface="Calibri"/>
                        </a:rPr>
                        <a:t>Give feedback on the interpretation of the data.</a:t>
                      </a:r>
                      <a:endParaRPr lang="en-US" dirty="0"/>
                    </a:p>
                  </a:txBody>
                  <a:tcPr/>
                </a:tc>
                <a:extLst>
                  <a:ext uri="{0D108BD9-81ED-4DB2-BD59-A6C34878D82A}">
                    <a16:rowId xmlns:a16="http://schemas.microsoft.com/office/drawing/2014/main" val="1532147889"/>
                  </a:ext>
                </a:extLst>
              </a:tr>
              <a:tr h="370840">
                <a:tc>
                  <a:txBody>
                    <a:bodyPr/>
                    <a:lstStyle/>
                    <a:p>
                      <a:pPr marL="0" marR="0" lvl="0" indent="0" algn="l">
                        <a:lnSpc>
                          <a:spcPct val="100000"/>
                        </a:lnSpc>
                        <a:spcBef>
                          <a:spcPts val="0"/>
                        </a:spcBef>
                        <a:spcAft>
                          <a:spcPts val="0"/>
                        </a:spcAft>
                        <a:buNone/>
                      </a:pPr>
                      <a:r>
                        <a:rPr lang="en-US" sz="1800" u="none" strike="noStrike" noProof="0" dirty="0">
                          <a:solidFill>
                            <a:srgbClr val="000000"/>
                          </a:solidFill>
                        </a:rPr>
                        <a:t>Task 5.3. Theory-based experimental communication intervention to increase vaccination education and</a:t>
                      </a:r>
                    </a:p>
                    <a:p>
                      <a:pPr marL="0" marR="0" lvl="0" indent="0" algn="l">
                        <a:lnSpc>
                          <a:spcPct val="100000"/>
                        </a:lnSpc>
                        <a:spcBef>
                          <a:spcPts val="0"/>
                        </a:spcBef>
                        <a:spcAft>
                          <a:spcPts val="0"/>
                        </a:spcAft>
                        <a:buNone/>
                      </a:pPr>
                      <a:r>
                        <a:rPr lang="en-US" sz="1800" u="none" strike="noStrike" noProof="0" dirty="0">
                          <a:solidFill>
                            <a:srgbClr val="000000"/>
                          </a:solidFill>
                        </a:rPr>
                        <a:t>acceptance, in particular in vulnerable subpopulations (M30-M48). </a:t>
                      </a:r>
                      <a:endParaRPr lang="en-US"/>
                    </a:p>
                  </a:txBody>
                  <a:tcPr/>
                </a:tc>
                <a:tc>
                  <a:txBody>
                    <a:bodyPr/>
                    <a:lstStyle/>
                    <a:p>
                      <a:pPr marL="285750" lvl="0" indent="-285750" algn="l">
                        <a:lnSpc>
                          <a:spcPct val="100000"/>
                        </a:lnSpc>
                        <a:buFont typeface="Arial"/>
                        <a:buChar char="•"/>
                      </a:pPr>
                      <a:r>
                        <a:rPr lang="en-US" sz="1800" b="0" i="0" u="none" strike="noStrike" baseline="0" noProof="0">
                          <a:solidFill>
                            <a:srgbClr val="000000"/>
                          </a:solidFill>
                          <a:latin typeface="Calibri"/>
                        </a:rPr>
                        <a:t>Propose the cultural adaptation of the educational </a:t>
                      </a:r>
                      <a:r>
                        <a:rPr lang="en-US" sz="1800" b="0" i="0" u="none" strike="noStrike" baseline="0" noProof="0" dirty="0">
                          <a:solidFill>
                            <a:srgbClr val="000000"/>
                          </a:solidFill>
                          <a:latin typeface="Calibri"/>
                        </a:rPr>
                        <a:t>material for Colombia </a:t>
                      </a:r>
                      <a:endParaRPr lang="en-US" dirty="0"/>
                    </a:p>
                    <a:p>
                      <a:pPr marL="285750" lvl="0" indent="-285750" algn="l">
                        <a:lnSpc>
                          <a:spcPct val="100000"/>
                        </a:lnSpc>
                        <a:buFont typeface="Arial"/>
                        <a:buChar char="•"/>
                      </a:pPr>
                      <a:r>
                        <a:rPr lang="en-US" sz="1800" b="0" i="0" u="none" strike="noStrike" baseline="0" noProof="0">
                          <a:solidFill>
                            <a:srgbClr val="000000"/>
                          </a:solidFill>
                          <a:latin typeface="Calibri"/>
                        </a:rPr>
                        <a:t>Support </a:t>
                      </a:r>
                      <a:r>
                        <a:rPr lang="en-US" sz="1800" b="0" i="0" u="none" strike="noStrike" baseline="0" noProof="0" dirty="0">
                          <a:solidFill>
                            <a:srgbClr val="000000"/>
                          </a:solidFill>
                          <a:latin typeface="Calibri"/>
                        </a:rPr>
                        <a:t>the pilot test.</a:t>
                      </a:r>
                      <a:endParaRPr lang="en-US" dirty="0"/>
                    </a:p>
                    <a:p>
                      <a:pPr lvl="0">
                        <a:buNone/>
                      </a:pPr>
                      <a:endParaRPr lang="en-US" dirty="0"/>
                    </a:p>
                  </a:txBody>
                  <a:tcPr/>
                </a:tc>
                <a:extLst>
                  <a:ext uri="{0D108BD9-81ED-4DB2-BD59-A6C34878D82A}">
                    <a16:rowId xmlns:a16="http://schemas.microsoft.com/office/drawing/2014/main" val="1675739219"/>
                  </a:ext>
                </a:extLst>
              </a:tr>
              <a:tr h="370839">
                <a:tc>
                  <a:txBody>
                    <a:bodyPr/>
                    <a:lstStyle/>
                    <a:p>
                      <a:pPr lvl="0">
                        <a:buNone/>
                      </a:pPr>
                      <a:r>
                        <a:rPr lang="en-US" sz="2000" u="none" strike="noStrike" noProof="0" dirty="0">
                          <a:solidFill>
                            <a:srgbClr val="000000"/>
                          </a:solidFill>
                        </a:rPr>
                        <a:t>Task 5.4. Public roll-out of vaccine risk communication materials and strategies (M33-M48)</a:t>
                      </a:r>
                      <a:endParaRPr lang="en-US" sz="2000"/>
                    </a:p>
                  </a:txBody>
                  <a:tcPr/>
                </a:tc>
                <a:tc>
                  <a:txBody>
                    <a:bodyPr/>
                    <a:lstStyle/>
                    <a:p>
                      <a:pPr marL="285750" lvl="0" indent="-285750" algn="l">
                        <a:lnSpc>
                          <a:spcPct val="100000"/>
                        </a:lnSpc>
                        <a:buFont typeface="Arial"/>
                        <a:buChar char="•"/>
                      </a:pPr>
                      <a:r>
                        <a:rPr lang="en-US" sz="1800" b="0" i="0" u="none" strike="noStrike" baseline="0" noProof="0">
                          <a:solidFill>
                            <a:srgbClr val="000000"/>
                          </a:solidFill>
                          <a:latin typeface="Calibri"/>
                        </a:rPr>
                        <a:t>Support dissemination and communication strategy.</a:t>
                      </a:r>
                      <a:endParaRPr lang="en-US" sz="1800"/>
                    </a:p>
                    <a:p>
                      <a:pPr marL="171450" lvl="0" indent="-171450" algn="l">
                        <a:lnSpc>
                          <a:spcPct val="100000"/>
                        </a:lnSpc>
                        <a:spcBef>
                          <a:spcPts val="0"/>
                        </a:spcBef>
                        <a:spcAft>
                          <a:spcPts val="0"/>
                        </a:spcAft>
                        <a:buFont typeface="Arial"/>
                        <a:buChar char="•"/>
                      </a:pPr>
                      <a:endParaRPr lang="en-US" sz="1200" b="0" i="0" u="none" strike="noStrike" noProof="0" dirty="0">
                        <a:solidFill>
                          <a:srgbClr val="000000"/>
                        </a:solidFill>
                        <a:latin typeface="Calibri"/>
                      </a:endParaRPr>
                    </a:p>
                  </a:txBody>
                  <a:tcPr/>
                </a:tc>
                <a:extLst>
                  <a:ext uri="{0D108BD9-81ED-4DB2-BD59-A6C34878D82A}">
                    <a16:rowId xmlns:a16="http://schemas.microsoft.com/office/drawing/2014/main" val="798140166"/>
                  </a:ext>
                </a:extLst>
              </a:tr>
            </a:tbl>
          </a:graphicData>
        </a:graphic>
      </p:graphicFrame>
    </p:spTree>
    <p:extLst>
      <p:ext uri="{BB962C8B-B14F-4D97-AF65-F5344CB8AC3E}">
        <p14:creationId xmlns:p14="http://schemas.microsoft.com/office/powerpoint/2010/main" val="5619630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 WP5: Mixed-methods research on perceptions of novel vaccine technologies and conceptions of (vaccine induced) immunity: lessons for (flavivirus) risk communication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468</cp:revision>
  <dcterms:created xsi:type="dcterms:W3CDTF">2023-11-20T16:32:52Z</dcterms:created>
  <dcterms:modified xsi:type="dcterms:W3CDTF">2025-07-07T14:19:31Z</dcterms:modified>
</cp:coreProperties>
</file>